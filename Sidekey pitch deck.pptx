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9.jpeg" ContentType="image/jpe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8.png" ContentType="image/png"/>
  <Override PartName="/ppt/media/image1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Lst>
  <p:sldSz cx="18288000" cy="10287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B1C98C45-FB16-48EB-B801-19FD96F0972B}"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FA36B824-0E2E-4E51-8C25-256E788410D0}"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CC35A188-78E7-40CB-AE2D-ACFD86B53576}"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1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C488BC60-F8AC-4195-9C47-9D86D223C45F}"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26"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7"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1C8B3C40-983B-40C7-84F6-300006DC5A72}" type="slidenum">
              <a:t>&lt;#&gt;</a:t>
            </a:fld>
          </a:p>
        </p:txBody>
      </p:sp>
      <p:sp>
        <p:nvSpPr>
          <p:cNvPr id="6" name="PlaceHolder 5"/>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DBC90914-1646-4FB6-87F9-9854E352E18C}"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3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0"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DD98B9B5-F13F-47E0-A0ED-6D408F36B7C0}" type="slidenum">
              <a:t>&lt;#&gt;</a:t>
            </a:fld>
          </a:p>
        </p:txBody>
      </p:sp>
      <p:sp>
        <p:nvSpPr>
          <p:cNvPr id="7" name="PlaceHolder 6"/>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FF2288BB-FEAF-40C6-BA85-D9F39C7216AA}"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5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ftr" idx="26"/>
          </p:nvPr>
        </p:nvSpPr>
        <p:spPr/>
        <p:txBody>
          <a:bodyPr/>
          <a:p>
            <a:r>
              <a:t>Footer</a:t>
            </a:r>
          </a:p>
        </p:txBody>
      </p:sp>
      <p:sp>
        <p:nvSpPr>
          <p:cNvPr id="4" name="PlaceHolder 3"/>
          <p:cNvSpPr>
            <a:spLocks noGrp="1"/>
          </p:cNvSpPr>
          <p:nvPr>
            <p:ph type="sldNum" idx="27"/>
          </p:nvPr>
        </p:nvSpPr>
        <p:spPr/>
        <p:txBody>
          <a:bodyPr/>
          <a:p>
            <a:fld id="{E36D4AD1-474C-4D0A-A7E1-78D0E303B47A}" type="slidenum">
              <a:t>&lt;#&gt;</a:t>
            </a:fld>
          </a:p>
        </p:txBody>
      </p:sp>
      <p:sp>
        <p:nvSpPr>
          <p:cNvPr id="5" name="PlaceHolder 4"/>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12C6D3DA-D42C-4C85-9E3F-7005EFD6D0E5}"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C4E67065-DCC7-42A8-BD2D-9E831F8FBCA9}"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Instrument Sans"/>
                <a:ea typeface="Instrument Sans"/>
              </a:defRPr>
            </a:lvl1pPr>
          </a:lstStyle>
          <a:p>
            <a:pPr indent="0" algn="r">
              <a:lnSpc>
                <a:spcPct val="100000"/>
              </a:lnSpc>
              <a:buNone/>
              <a:tabLst>
                <a:tab algn="l" pos="0"/>
              </a:tabLst>
            </a:pPr>
            <a:fld id="{3D15824A-8AF2-41F7-8C58-5D0A58A2251D}" type="slidenum">
              <a:rPr b="0" lang="en-US" sz="1200" spc="-1" strike="noStrike">
                <a:solidFill>
                  <a:srgbClr val="888888"/>
                </a:solidFill>
                <a:latin typeface="Instrument Sans"/>
                <a:ea typeface="Instrument Sans"/>
              </a:rPr>
              <a:t>5</a:t>
            </a:fld>
            <a:endParaRPr b="0" lang="en-US" sz="1200" spc="-1" strike="noStrike">
              <a:solidFill>
                <a:srgbClr val="000000"/>
              </a:solidFill>
              <a:latin typeface="Times New Roman"/>
            </a:endParaRPr>
          </a:p>
        </p:txBody>
      </p:sp>
      <p:sp>
        <p:nvSpPr>
          <p:cNvPr id="3"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4"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6" name="PlaceHolder 2"/>
          <p:cNvSpPr>
            <a:spLocks noGrp="1"/>
          </p:cNvSpPr>
          <p:nvPr>
            <p:ph type="body"/>
          </p:nvPr>
        </p:nvSpPr>
        <p:spPr>
          <a:xfrm rot="5400000">
            <a:off x="2309400" y="-251640"/>
            <a:ext cx="4525560" cy="8229240"/>
          </a:xfrm>
          <a:prstGeom prst="rect">
            <a:avLst/>
          </a:prstGeom>
          <a:noFill/>
          <a:ln w="0">
            <a:noFill/>
          </a:ln>
        </p:spPr>
        <p:txBody>
          <a:bodyPr lIns="91440" rIns="91440" tIns="45720" bIns="45720" anchor="t">
            <a:normAutofit fontScale="74992" lnSpcReduction="20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7"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Instrument Sans"/>
                <a:ea typeface="Instrument Sans"/>
              </a:defRPr>
            </a:lvl1pPr>
          </a:lstStyle>
          <a:p>
            <a:pPr indent="0" algn="r">
              <a:lnSpc>
                <a:spcPct val="100000"/>
              </a:lnSpc>
              <a:buNone/>
              <a:tabLst>
                <a:tab algn="l" pos="0"/>
              </a:tabLst>
            </a:pPr>
            <a:fld id="{C6B42F1F-4FF5-4B9C-B990-CD3AA81C7768}" type="slidenum">
              <a:rPr b="0" lang="en-US" sz="1200" spc="-1" strike="noStrike">
                <a:solidFill>
                  <a:srgbClr val="888888"/>
                </a:solidFill>
                <a:latin typeface="Instrument Sans"/>
                <a:ea typeface="Instrument San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rot="5400000">
            <a:off x="4732560" y="2171520"/>
            <a:ext cx="5851080" cy="20570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1" name="PlaceHolder 2"/>
          <p:cNvSpPr>
            <a:spLocks noGrp="1"/>
          </p:cNvSpPr>
          <p:nvPr>
            <p:ph type="body"/>
          </p:nvPr>
        </p:nvSpPr>
        <p:spPr>
          <a:xfrm rot="5400000">
            <a:off x="541800" y="190080"/>
            <a:ext cx="5851080" cy="60195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12"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Instrument Sans"/>
                <a:ea typeface="Instrument Sans"/>
              </a:defRPr>
            </a:lvl1pPr>
          </a:lstStyle>
          <a:p>
            <a:pPr indent="0" algn="r">
              <a:lnSpc>
                <a:spcPct val="100000"/>
              </a:lnSpc>
              <a:buNone/>
              <a:tabLst>
                <a:tab algn="l" pos="0"/>
              </a:tabLst>
            </a:pPr>
            <a:fld id="{E98C3279-29DE-4E8C-A412-F28ADE21C04D}" type="slidenum">
              <a:rPr b="0" lang="en-US" sz="1200" spc="-1" strike="noStrike">
                <a:solidFill>
                  <a:srgbClr val="888888"/>
                </a:solidFill>
                <a:latin typeface="Instrument Sans"/>
                <a:ea typeface="Instrument San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6" name="PlaceHolder 2"/>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7" name="PlaceHolder 3"/>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8" name="PlaceHolder 4"/>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Instrument Sans"/>
                <a:ea typeface="Instrument Sans"/>
              </a:defRPr>
            </a:lvl1pPr>
          </a:lstStyle>
          <a:p>
            <a:pPr indent="0" algn="r">
              <a:lnSpc>
                <a:spcPct val="100000"/>
              </a:lnSpc>
              <a:buNone/>
              <a:tabLst>
                <a:tab algn="l" pos="0"/>
              </a:tabLst>
            </a:pPr>
            <a:fld id="{558425EC-E075-4914-8953-662DF46BDF04}" type="slidenum">
              <a:rPr b="0" lang="en-US" sz="1200" spc="-1" strike="noStrike">
                <a:solidFill>
                  <a:srgbClr val="888888"/>
                </a:solidFill>
                <a:latin typeface="Instrument Sans"/>
                <a:ea typeface="Instrument San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2"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Instrument Sans"/>
                <a:ea typeface="Instrument Sans"/>
              </a:defRPr>
            </a:lvl1pPr>
          </a:lstStyle>
          <a:p>
            <a:pPr indent="0" algn="r">
              <a:lnSpc>
                <a:spcPct val="100000"/>
              </a:lnSpc>
              <a:buNone/>
              <a:tabLst>
                <a:tab algn="l" pos="0"/>
              </a:tabLst>
            </a:pPr>
            <a:fld id="{596803BD-F2C4-4A19-B9A7-9799BBC8EBF9}" type="slidenum">
              <a:rPr b="0" lang="en-US" sz="1200" spc="-1" strike="noStrike">
                <a:solidFill>
                  <a:srgbClr val="888888"/>
                </a:solidFill>
                <a:latin typeface="Instrument Sans"/>
                <a:ea typeface="Instrument San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rmAutofit/>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29"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rmAutofit fontScale="43472"/>
          </a:bodyPr>
          <a:p>
            <a:pPr marL="432000" indent="-324000">
              <a:spcBef>
                <a:spcPts val="1417"/>
              </a:spcBef>
              <a:buClr>
                <a:srgbClr val="000000"/>
              </a:buClr>
              <a:buSzPct val="45000"/>
              <a:buFont typeface="Wingdings" charset="2"/>
              <a:buChar char=""/>
            </a:pPr>
            <a:r>
              <a:rPr b="0" lang="en-US" sz="2000" spc="-1" strike="noStrike">
                <a:solidFill>
                  <a:srgbClr val="000000"/>
                </a:solidFill>
                <a:latin typeface="Arial"/>
              </a:rPr>
              <a:t>Click to edit the outline text format</a:t>
            </a:r>
            <a:endParaRPr b="0" lang="en-US" sz="2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30" name="PlaceHolder 3"/>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1" name="PlaceHolder 4"/>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5"/>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Instrument Sans"/>
                <a:ea typeface="Instrument Sans"/>
              </a:defRPr>
            </a:lvl1pPr>
          </a:lstStyle>
          <a:p>
            <a:pPr indent="0" algn="r">
              <a:lnSpc>
                <a:spcPct val="100000"/>
              </a:lnSpc>
              <a:buNone/>
              <a:tabLst>
                <a:tab algn="l" pos="0"/>
              </a:tabLst>
            </a:pPr>
            <a:fld id="{ECF19E68-C457-4CC1-AF85-F436E89C918E}" type="slidenum">
              <a:rPr b="0" lang="en-US" sz="1200" spc="-1" strike="noStrike">
                <a:solidFill>
                  <a:srgbClr val="888888"/>
                </a:solidFill>
                <a:latin typeface="Instrument Sans"/>
                <a:ea typeface="Instrument San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4"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rmAutofit fontScale="74983" lnSpcReduction="20000"/>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35"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rmAutofit fontScale="74983" lnSpcReduction="20000"/>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36" name="PlaceHolder 4"/>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7" name="PlaceHolder 5"/>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6"/>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Instrument Sans"/>
                <a:ea typeface="Instrument Sans"/>
              </a:defRPr>
            </a:lvl1pPr>
          </a:lstStyle>
          <a:p>
            <a:pPr indent="0" algn="r">
              <a:lnSpc>
                <a:spcPct val="100000"/>
              </a:lnSpc>
              <a:buNone/>
              <a:tabLst>
                <a:tab algn="l" pos="0"/>
              </a:tabLst>
            </a:pPr>
            <a:fld id="{7EC061A7-34CD-4BB9-9335-89B92CE9C8C2}" type="slidenum">
              <a:rPr b="0" lang="en-US" sz="1200" spc="-1" strike="noStrike">
                <a:solidFill>
                  <a:srgbClr val="888888"/>
                </a:solidFill>
                <a:latin typeface="Instrument Sans"/>
                <a:ea typeface="Instrument San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rmAutofit fontScale="6247"/>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44"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rmAutofit fontScale="74970"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45"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rmAutofit fontScale="6247"/>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46"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rmAutofit fontScale="74970"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47" name="PlaceHolder 6"/>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7"/>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8"/>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Instrument Sans"/>
                <a:ea typeface="Instrument Sans"/>
              </a:defRPr>
            </a:lvl1pPr>
          </a:lstStyle>
          <a:p>
            <a:pPr indent="0" algn="r">
              <a:lnSpc>
                <a:spcPct val="100000"/>
              </a:lnSpc>
              <a:buNone/>
              <a:tabLst>
                <a:tab algn="l" pos="0"/>
              </a:tabLst>
            </a:pPr>
            <a:fld id="{59E73E89-7B16-4D1E-AC3F-CB178A523884}" type="slidenum">
              <a:rPr b="0" lang="en-US" sz="1200" spc="-1" strike="noStrike">
                <a:solidFill>
                  <a:srgbClr val="888888"/>
                </a:solidFill>
                <a:latin typeface="Instrument Sans"/>
                <a:ea typeface="Instrument San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1" name="PlaceHolder 2"/>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2" name="PlaceHolder 3"/>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4"/>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Instrument Sans"/>
                <a:ea typeface="Instrument Sans"/>
              </a:defRPr>
            </a:lvl1pPr>
          </a:lstStyle>
          <a:p>
            <a:pPr indent="0" algn="r">
              <a:lnSpc>
                <a:spcPct val="100000"/>
              </a:lnSpc>
              <a:buNone/>
              <a:tabLst>
                <a:tab algn="l" pos="0"/>
              </a:tabLst>
            </a:pPr>
            <a:fld id="{AA62A027-A069-46B0-9E49-06C1B74D4A4A}" type="slidenum">
              <a:rPr b="0" lang="en-US" sz="1200" spc="-1" strike="noStrike">
                <a:solidFill>
                  <a:srgbClr val="888888"/>
                </a:solidFill>
                <a:latin typeface="Instrument Sans"/>
                <a:ea typeface="Instrument San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rmAutofit/>
          </a:bodyPr>
          <a:p>
            <a:pPr indent="0">
              <a:buNone/>
            </a:pPr>
            <a:r>
              <a:rPr b="0" lang="en-US" sz="2000" spc="-1" strike="noStrike">
                <a:solidFill>
                  <a:srgbClr val="000000"/>
                </a:solidFill>
                <a:latin typeface="Arial"/>
              </a:rPr>
              <a:t>Click to edit the title text format</a:t>
            </a:r>
            <a:endParaRPr b="0" lang="en-US" sz="2000" spc="-1" strike="noStrike">
              <a:solidFill>
                <a:srgbClr val="000000"/>
              </a:solidFill>
              <a:latin typeface="Arial"/>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rmAutofit fontScale="93740" lnSpcReduction="10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rmAutofit fontScale="74983" lnSpcReduction="20000"/>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Instrument Sans"/>
                <a:ea typeface="Instrument Sans"/>
              </a:defRPr>
            </a:lvl1pPr>
          </a:lstStyle>
          <a:p>
            <a:pPr indent="0" algn="r">
              <a:lnSpc>
                <a:spcPct val="100000"/>
              </a:lnSpc>
              <a:buNone/>
              <a:tabLst>
                <a:tab algn="l" pos="0"/>
              </a:tabLst>
            </a:pPr>
            <a:fld id="{938FCFF0-6DC0-46E6-9179-0EFB29BCE0CF}" type="slidenum">
              <a:rPr b="0" lang="en-US" sz="1200" spc="-1" strike="noStrike">
                <a:solidFill>
                  <a:srgbClr val="888888"/>
                </a:solidFill>
                <a:latin typeface="Instrument Sans"/>
                <a:ea typeface="Instrument San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rmAutofit/>
          </a:bodyPr>
          <a:p>
            <a:pPr indent="0">
              <a:buNone/>
            </a:pPr>
            <a:r>
              <a:rPr b="0" lang="en-US" sz="2000" spc="-1" strike="noStrike">
                <a:solidFill>
                  <a:srgbClr val="000000"/>
                </a:solidFill>
                <a:latin typeface="Arial"/>
              </a:rPr>
              <a:t>Click to edit the title text format</a:t>
            </a:r>
            <a:endParaRPr b="0" lang="en-US" sz="2000" spc="-1" strike="noStrike">
              <a:solidFill>
                <a:srgbClr val="000000"/>
              </a:solidFill>
              <a:latin typeface="Arial"/>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rmAutofit fontScale="24994" lnSpcReduction="10000"/>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Instrument Sans"/>
                <a:ea typeface="Instrument Sans"/>
              </a:defRPr>
            </a:lvl1pPr>
          </a:lstStyle>
          <a:p>
            <a:pPr indent="0" algn="r">
              <a:lnSpc>
                <a:spcPct val="100000"/>
              </a:lnSpc>
              <a:buNone/>
              <a:tabLst>
                <a:tab algn="l" pos="0"/>
              </a:tabLst>
            </a:pPr>
            <a:fld id="{F22ECD52-0238-4593-B407-10850B3D7815}" type="slidenum">
              <a:rPr b="0" lang="en-US" sz="1200" spc="-1" strike="noStrike">
                <a:solidFill>
                  <a:srgbClr val="888888"/>
                </a:solidFill>
                <a:latin typeface="Instrument Sans"/>
                <a:ea typeface="Instrument Sans"/>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8.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11.jpeg"/><Relationship Id="rId5"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0f0f"/>
        </a:solidFill>
      </p:bgPr>
    </p:bg>
    <p:spTree>
      <p:nvGrpSpPr>
        <p:cNvPr id="1" name=""/>
        <p:cNvGrpSpPr/>
        <p:nvPr/>
      </p:nvGrpSpPr>
      <p:grpSpPr>
        <a:xfrm>
          <a:off x="0" y="0"/>
          <a:ext cx="0" cy="0"/>
          <a:chOff x="0" y="0"/>
          <a:chExt cx="0" cy="0"/>
        </a:xfrm>
      </p:grpSpPr>
      <p:sp>
        <p:nvSpPr>
          <p:cNvPr id="67" name="Google Shape;87;p13"/>
          <p:cNvSpPr/>
          <p:nvPr/>
        </p:nvSpPr>
        <p:spPr>
          <a:xfrm>
            <a:off x="914400" y="2514600"/>
            <a:ext cx="10972440" cy="2263680"/>
          </a:xfrm>
          <a:prstGeom prst="rect">
            <a:avLst/>
          </a:prstGeom>
          <a:noFill/>
          <a:ln w="0">
            <a:noFill/>
          </a:ln>
        </p:spPr>
        <p:style>
          <a:lnRef idx="0"/>
          <a:fillRef idx="0"/>
          <a:effectRef idx="0"/>
          <a:fontRef idx="minor"/>
        </p:style>
        <p:txBody>
          <a:bodyPr lIns="0" rIns="0" tIns="0" bIns="0" anchor="t">
            <a:spAutoFit/>
          </a:bodyPr>
          <a:p>
            <a:pPr>
              <a:lnSpc>
                <a:spcPct val="90000"/>
              </a:lnSpc>
              <a:tabLst>
                <a:tab algn="l" pos="0"/>
              </a:tabLst>
            </a:pPr>
            <a:r>
              <a:rPr b="1" lang="en-US" sz="12800" spc="-1" strike="noStrike">
                <a:solidFill>
                  <a:srgbClr val="fdda24"/>
                </a:solidFill>
                <a:latin typeface="Inter Tight"/>
                <a:ea typeface="Inter Tight"/>
              </a:rPr>
              <a:t>Sidekey</a:t>
            </a:r>
            <a:endParaRPr b="0" lang="en-US" sz="12800" spc="-1" strike="sngStrike">
              <a:solidFill>
                <a:srgbClr val="ffffff"/>
              </a:solidFill>
              <a:latin typeface="Arial"/>
            </a:endParaRPr>
          </a:p>
          <a:p>
            <a:pPr>
              <a:lnSpc>
                <a:spcPct val="90000"/>
              </a:lnSpc>
              <a:spcBef>
                <a:spcPts val="1191"/>
              </a:spcBef>
              <a:spcAft>
                <a:spcPts val="992"/>
              </a:spcAft>
              <a:tabLst>
                <a:tab algn="l" pos="0"/>
              </a:tabLst>
            </a:pPr>
            <a:r>
              <a:rPr b="1" lang="en-US" sz="2600" spc="-1" strike="noStrike">
                <a:solidFill>
                  <a:srgbClr val="fdda24"/>
                </a:solidFill>
                <a:latin typeface="Inter Tight"/>
                <a:ea typeface="Inter Tight"/>
              </a:rPr>
              <a:t>Your wallet is the master. Everyone else gets a policy.</a:t>
            </a:r>
            <a:endParaRPr b="0" lang="en-US" sz="2600" spc="-1" strike="sngStrike">
              <a:solidFill>
                <a:srgbClr val="ffffff"/>
              </a:solidFill>
              <a:latin typeface="Arial"/>
            </a:endParaRPr>
          </a:p>
        </p:txBody>
      </p:sp>
      <p:sp>
        <p:nvSpPr>
          <p:cNvPr id="68" name="Google Shape;84;p13"/>
          <p:cNvSpPr/>
          <p:nvPr/>
        </p:nvSpPr>
        <p:spPr>
          <a:xfrm>
            <a:off x="914400" y="777240"/>
            <a:ext cx="822924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1400" spc="-1" strike="noStrike">
                <a:solidFill>
                  <a:srgbClr val="ffffff"/>
                </a:solidFill>
                <a:latin typeface="JetBrains Mono"/>
                <a:ea typeface="JetBrains Mono"/>
              </a:rPr>
              <a:t>HACKMERIDIAN 2026 · LISBON</a:t>
            </a:r>
            <a:endParaRPr b="0" lang="en-US" sz="1400" spc="-1" strike="sngStrike">
              <a:solidFill>
                <a:srgbClr val="ffffff"/>
              </a:solidFill>
              <a:latin typeface="Arial"/>
            </a:endParaRPr>
          </a:p>
        </p:txBody>
      </p:sp>
      <p:sp>
        <p:nvSpPr>
          <p:cNvPr id="69" name="Google Shape;85;p13"/>
          <p:cNvSpPr/>
          <p:nvPr/>
        </p:nvSpPr>
        <p:spPr>
          <a:xfrm>
            <a:off x="10058400" y="777240"/>
            <a:ext cx="7314840" cy="21384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Lst>
            </a:pPr>
            <a:r>
              <a:rPr b="1" lang="en-US" sz="1400" spc="-1" strike="noStrike">
                <a:solidFill>
                  <a:srgbClr val="fdda24"/>
                </a:solidFill>
                <a:latin typeface="JetBrains Mono"/>
                <a:ea typeface="JetBrains Mono"/>
              </a:rPr>
              <a:t>PLATFORM 01 / 05</a:t>
            </a:r>
            <a:endParaRPr b="0" lang="en-US" sz="1400" spc="-1" strike="sngStrike">
              <a:solidFill>
                <a:srgbClr val="ffffff"/>
              </a:solidFill>
              <a:latin typeface="Arial"/>
            </a:endParaRPr>
          </a:p>
        </p:txBody>
      </p:sp>
      <p:sp>
        <p:nvSpPr>
          <p:cNvPr id="70" name="Google Shape;86;p13"/>
          <p:cNvSpPr/>
          <p:nvPr/>
        </p:nvSpPr>
        <p:spPr>
          <a:xfrm>
            <a:off x="914400" y="1600200"/>
            <a:ext cx="3291480" cy="475200"/>
          </a:xfrm>
          <a:prstGeom prst="roundRect">
            <a:avLst>
              <a:gd name="adj" fmla="val 50000"/>
            </a:avLst>
          </a:prstGeom>
          <a:noFill/>
          <a:ln w="19050">
            <a:solidFill>
              <a:srgbClr val="fdda24"/>
            </a:solidFill>
            <a:round/>
          </a:ln>
        </p:spPr>
        <p:style>
          <a:lnRef idx="0"/>
          <a:fillRef idx="0"/>
          <a:effectRef idx="0"/>
          <a:fontRef idx="minor"/>
        </p:style>
        <p:txBody>
          <a:bodyPr lIns="0" rIns="0" tIns="0" bIns="0" anchor="ctr">
            <a:noAutofit/>
          </a:bodyPr>
          <a:p>
            <a:pPr algn="ctr">
              <a:lnSpc>
                <a:spcPct val="100000"/>
              </a:lnSpc>
              <a:tabLst>
                <a:tab algn="l" pos="0"/>
              </a:tabLst>
            </a:pPr>
            <a:r>
              <a:rPr b="1" lang="en-US" sz="1200" spc="-1" strike="noStrike">
                <a:solidFill>
                  <a:srgbClr val="fdda24"/>
                </a:solidFill>
                <a:latin typeface="JetBrains Mono"/>
                <a:ea typeface="JetBrains Mono"/>
              </a:rPr>
              <a:t>PITCH DECK · MADE TO MOVE</a:t>
            </a:r>
            <a:endParaRPr b="0" lang="en-US" sz="1200" spc="-1" strike="sngStrike">
              <a:solidFill>
                <a:srgbClr val="ffffff"/>
              </a:solidFill>
              <a:latin typeface="Arial"/>
            </a:endParaRPr>
          </a:p>
        </p:txBody>
      </p:sp>
      <p:sp>
        <p:nvSpPr>
          <p:cNvPr id="71" name="Google Shape;88;p13"/>
          <p:cNvSpPr/>
          <p:nvPr/>
        </p:nvSpPr>
        <p:spPr>
          <a:xfrm>
            <a:off x="12435840" y="2103120"/>
            <a:ext cx="4937400" cy="2862360"/>
          </a:xfrm>
          <a:custGeom>
            <a:avLst/>
            <a:gdLst>
              <a:gd name="textAreaLeft" fmla="*/ 0 w 4937400"/>
              <a:gd name="textAreaRight" fmla="*/ 4937760 w 4937400"/>
              <a:gd name="textAreaTop" fmla="*/ 0 h 2862360"/>
              <a:gd name="textAreaBottom" fmla="*/ 2862720 h 2862360"/>
            </a:gdLst>
            <a:ahLst/>
            <a:rect l="textAreaLeft" t="textAreaTop" r="textAreaRight" b="textAreaBottom"/>
            <a:pathLst>
              <a:path w="4937760" h="2862850">
                <a:moveTo>
                  <a:pt x="0" y="0"/>
                </a:moveTo>
                <a:lnTo>
                  <a:pt x="0" y="1103116"/>
                </a:lnTo>
                <a:lnTo>
                  <a:pt x="2468880" y="2862850"/>
                </a:lnTo>
                <a:lnTo>
                  <a:pt x="4937760" y="1103116"/>
                </a:lnTo>
                <a:lnTo>
                  <a:pt x="4937760" y="0"/>
                </a:lnTo>
                <a:lnTo>
                  <a:pt x="2468880" y="1497086"/>
                </a:lnTo>
                <a:close/>
              </a:path>
            </a:pathLst>
          </a:custGeom>
          <a:solidFill>
            <a:srgbClr val="fdda24">
              <a:alpha val="22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72" name="Google Shape;89;p13"/>
          <p:cNvSpPr/>
          <p:nvPr/>
        </p:nvSpPr>
        <p:spPr>
          <a:xfrm>
            <a:off x="12435840" y="4151880"/>
            <a:ext cx="1444320" cy="1785600"/>
          </a:xfrm>
          <a:custGeom>
            <a:avLst/>
            <a:gdLst>
              <a:gd name="textAreaLeft" fmla="*/ 0 w 1444320"/>
              <a:gd name="textAreaRight" fmla="*/ 1444680 w 1444320"/>
              <a:gd name="textAreaTop" fmla="*/ 0 h 1785600"/>
              <a:gd name="textAreaBottom" fmla="*/ 1785960 h 1785600"/>
            </a:gdLst>
            <a:ahLst/>
            <a:rect l="textAreaLeft" t="textAreaTop" r="textAreaRight" b="textAreaBottom"/>
            <a:pathLst>
              <a:path w="1444557" h="1785998">
                <a:moveTo>
                  <a:pt x="0" y="0"/>
                </a:moveTo>
                <a:lnTo>
                  <a:pt x="0" y="1785998"/>
                </a:lnTo>
                <a:lnTo>
                  <a:pt x="1444557" y="866734"/>
                </a:lnTo>
                <a:close/>
              </a:path>
            </a:pathLst>
          </a:custGeom>
          <a:solidFill>
            <a:srgbClr val="fdda24">
              <a:alpha val="22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73" name="Google Shape;90;p13"/>
          <p:cNvSpPr/>
          <p:nvPr/>
        </p:nvSpPr>
        <p:spPr>
          <a:xfrm>
            <a:off x="15928920" y="4151880"/>
            <a:ext cx="1444320" cy="1785600"/>
          </a:xfrm>
          <a:custGeom>
            <a:avLst/>
            <a:gdLst>
              <a:gd name="textAreaLeft" fmla="*/ 0 w 1444320"/>
              <a:gd name="textAreaRight" fmla="*/ 1444680 w 1444320"/>
              <a:gd name="textAreaTop" fmla="*/ 0 h 1785600"/>
              <a:gd name="textAreaBottom" fmla="*/ 1785960 h 1785600"/>
            </a:gdLst>
            <a:ahLst/>
            <a:rect l="textAreaLeft" t="textAreaTop" r="textAreaRight" b="textAreaBottom"/>
            <a:pathLst>
              <a:path w="1444558" h="1785998">
                <a:moveTo>
                  <a:pt x="1444558" y="0"/>
                </a:moveTo>
                <a:lnTo>
                  <a:pt x="1444558" y="1785998"/>
                </a:lnTo>
                <a:lnTo>
                  <a:pt x="0" y="866734"/>
                </a:lnTo>
                <a:close/>
              </a:path>
            </a:pathLst>
          </a:custGeom>
          <a:solidFill>
            <a:srgbClr val="fdda24">
              <a:alpha val="22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pic>
        <p:nvPicPr>
          <p:cNvPr id="74" name="Google Shape;91;p13" descr="hm-white.png"/>
          <p:cNvPicPr/>
          <p:nvPr/>
        </p:nvPicPr>
        <p:blipFill>
          <a:blip r:embed="rId1"/>
          <a:stretch/>
        </p:blipFill>
        <p:spPr>
          <a:xfrm>
            <a:off x="914400" y="6812280"/>
            <a:ext cx="4720680" cy="822600"/>
          </a:xfrm>
          <a:prstGeom prst="rect">
            <a:avLst/>
          </a:prstGeom>
          <a:ln w="0">
            <a:noFill/>
          </a:ln>
        </p:spPr>
      </p:pic>
      <p:sp>
        <p:nvSpPr>
          <p:cNvPr id="75" name="Google Shape;92;p13"/>
          <p:cNvSpPr/>
          <p:nvPr/>
        </p:nvSpPr>
        <p:spPr>
          <a:xfrm>
            <a:off x="5989320" y="6766560"/>
            <a:ext cx="18000" cy="914040"/>
          </a:xfrm>
          <a:prstGeom prst="rect">
            <a:avLst/>
          </a:prstGeom>
          <a:solidFill>
            <a:srgbClr val="4a4a4a"/>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pic>
        <p:nvPicPr>
          <p:cNvPr id="76" name="Google Shape;93;p13" descr="guava-white.png"/>
          <p:cNvPicPr/>
          <p:nvPr/>
        </p:nvPicPr>
        <p:blipFill>
          <a:blip r:embed="rId2"/>
          <a:stretch/>
        </p:blipFill>
        <p:spPr>
          <a:xfrm>
            <a:off x="6355080" y="6967800"/>
            <a:ext cx="2159280" cy="511560"/>
          </a:xfrm>
          <a:prstGeom prst="rect">
            <a:avLst/>
          </a:prstGeom>
          <a:ln w="0">
            <a:noFill/>
          </a:ln>
        </p:spPr>
      </p:pic>
      <p:pic>
        <p:nvPicPr>
          <p:cNvPr id="77" name="Google Shape;94;p13" descr="stellar-white.png"/>
          <p:cNvPicPr/>
          <p:nvPr/>
        </p:nvPicPr>
        <p:blipFill>
          <a:blip r:embed="rId3"/>
          <a:stretch/>
        </p:blipFill>
        <p:spPr>
          <a:xfrm>
            <a:off x="8823960" y="6903720"/>
            <a:ext cx="2483280" cy="621360"/>
          </a:xfrm>
          <a:prstGeom prst="rect">
            <a:avLst/>
          </a:prstGeom>
          <a:ln w="0">
            <a:noFill/>
          </a:ln>
        </p:spPr>
      </p:pic>
      <p:sp>
        <p:nvSpPr>
          <p:cNvPr id="78" name="Google Shape;95;p13"/>
          <p:cNvSpPr/>
          <p:nvPr/>
        </p:nvSpPr>
        <p:spPr>
          <a:xfrm rot="5400000">
            <a:off x="14905080" y="6858000"/>
            <a:ext cx="731160" cy="731160"/>
          </a:xfrm>
          <a:prstGeom prst="triangle">
            <a:avLst>
              <a:gd name="adj" fmla="val 50000"/>
            </a:avLst>
          </a:prstGeom>
          <a:solidFill>
            <a:srgbClr val="fdda24"/>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79" name="Google Shape;96;p13"/>
          <p:cNvSpPr/>
          <p:nvPr/>
        </p:nvSpPr>
        <p:spPr>
          <a:xfrm rot="5400000">
            <a:off x="15599880" y="6858000"/>
            <a:ext cx="731160" cy="731160"/>
          </a:xfrm>
          <a:prstGeom prst="triangle">
            <a:avLst>
              <a:gd name="adj" fmla="val 50000"/>
            </a:avLst>
          </a:prstGeom>
          <a:solidFill>
            <a:srgbClr val="fdda24">
              <a:alpha val="60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80" name="Google Shape;97;p13"/>
          <p:cNvSpPr/>
          <p:nvPr/>
        </p:nvSpPr>
        <p:spPr>
          <a:xfrm rot="5400000">
            <a:off x="16295040" y="6858000"/>
            <a:ext cx="731160" cy="731160"/>
          </a:xfrm>
          <a:prstGeom prst="triangle">
            <a:avLst>
              <a:gd name="adj" fmla="val 50000"/>
            </a:avLst>
          </a:prstGeom>
          <a:solidFill>
            <a:srgbClr val="fdda24">
              <a:alpha val="30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81" name="Google Shape;98;p13"/>
          <p:cNvSpPr/>
          <p:nvPr/>
        </p:nvSpPr>
        <p:spPr>
          <a:xfrm>
            <a:off x="914400" y="8641080"/>
            <a:ext cx="16458840" cy="13320"/>
          </a:xfrm>
          <a:prstGeom prst="rect">
            <a:avLst/>
          </a:prstGeom>
          <a:solidFill>
            <a:srgbClr val="3a3a3a"/>
          </a:solidFill>
          <a:ln w="0">
            <a:noFill/>
          </a:ln>
        </p:spPr>
        <p:style>
          <a:lnRef idx="0"/>
          <a:fillRef idx="0"/>
          <a:effectRef idx="0"/>
          <a:fontRef idx="minor"/>
        </p:style>
        <p:txBody>
          <a:bodyPr tIns="6840" bIns="6840" anchor="ctr">
            <a:noAutofit/>
          </a:bodyPr>
          <a:p>
            <a:pPr algn="ctr">
              <a:lnSpc>
                <a:spcPct val="100000"/>
              </a:lnSpc>
              <a:tabLst>
                <a:tab algn="l" pos="0"/>
              </a:tabLst>
            </a:pPr>
            <a:endParaRPr b="0" lang="en-US" sz="1400" spc="-1" strike="sngStrike">
              <a:solidFill>
                <a:srgbClr val="ffffff"/>
              </a:solidFill>
              <a:latin typeface="Arial"/>
            </a:endParaRPr>
          </a:p>
        </p:txBody>
      </p:sp>
      <p:sp>
        <p:nvSpPr>
          <p:cNvPr id="82" name="Google Shape;99;p13"/>
          <p:cNvSpPr/>
          <p:nvPr/>
        </p:nvSpPr>
        <p:spPr>
          <a:xfrm>
            <a:off x="914400" y="8961120"/>
            <a:ext cx="4571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1600" spc="-1" strike="noStrike">
                <a:solidFill>
                  <a:srgbClr val="ffffff"/>
                </a:solidFill>
                <a:latin typeface="JetBrains Mono"/>
                <a:ea typeface="JetBrains Mono"/>
              </a:rPr>
              <a:t>October 2026</a:t>
            </a:r>
            <a:endParaRPr b="0" lang="en-US" sz="1600" spc="-1" strike="sngStrike">
              <a:solidFill>
                <a:srgbClr val="ffffff"/>
              </a:solidFill>
              <a:latin typeface="Arial"/>
            </a:endParaRPr>
          </a:p>
        </p:txBody>
      </p:sp>
      <p:sp>
        <p:nvSpPr>
          <p:cNvPr id="83" name="Google Shape;100;p13"/>
          <p:cNvSpPr/>
          <p:nvPr/>
        </p:nvSpPr>
        <p:spPr>
          <a:xfrm>
            <a:off x="6400800" y="8961120"/>
            <a:ext cx="548604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Lst>
            </a:pPr>
            <a:r>
              <a:rPr b="1" lang="en-US" sz="1400" spc="-1" strike="noStrike">
                <a:solidFill>
                  <a:srgbClr val="fdda24"/>
                </a:solidFill>
                <a:latin typeface="JetBrains Mono"/>
                <a:ea typeface="JetBrains Mono"/>
              </a:rPr>
              <a:t>#HackMeridian26</a:t>
            </a:r>
            <a:endParaRPr b="0" lang="en-US" sz="1400" spc="-1" strike="sngStrike">
              <a:solidFill>
                <a:srgbClr val="ffffff"/>
              </a:solidFill>
              <a:latin typeface="Arial"/>
            </a:endParaRPr>
          </a:p>
        </p:txBody>
      </p:sp>
      <p:sp>
        <p:nvSpPr>
          <p:cNvPr id="84" name="Google Shape;101;p13"/>
          <p:cNvSpPr/>
          <p:nvPr/>
        </p:nvSpPr>
        <p:spPr>
          <a:xfrm>
            <a:off x="11887200" y="8961120"/>
            <a:ext cx="5486040" cy="21384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Lst>
            </a:pPr>
            <a:r>
              <a:rPr b="0" lang="en-US" sz="1400" spc="-1" strike="noStrike">
                <a:solidFill>
                  <a:srgbClr val="a7a7a7"/>
                </a:solidFill>
                <a:latin typeface="JetBrains Mono"/>
                <a:ea typeface="JetBrains Mono"/>
              </a:rPr>
              <a:t>© 2026 HackMeridian · Lisbon</a:t>
            </a:r>
            <a:endParaRPr b="0" lang="en-US" sz="1400" spc="-1" strike="sng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85" name="Google Shape;106;p14"/>
          <p:cNvSpPr/>
          <p:nvPr/>
        </p:nvSpPr>
        <p:spPr>
          <a:xfrm>
            <a:off x="0" y="0"/>
            <a:ext cx="18287640" cy="731160"/>
          </a:xfrm>
          <a:prstGeom prst="rect">
            <a:avLst/>
          </a:prstGeom>
          <a:solidFill>
            <a:srgbClr val="0f0f0f"/>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86" name="Google Shape;107;p14"/>
          <p:cNvSpPr/>
          <p:nvPr/>
        </p:nvSpPr>
        <p:spPr>
          <a:xfrm>
            <a:off x="914400" y="258480"/>
            <a:ext cx="4571640" cy="21420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1400" spc="-1" strike="noStrike">
                <a:solidFill>
                  <a:srgbClr val="fdda24"/>
                </a:solidFill>
                <a:latin typeface="JetBrains Mono"/>
                <a:ea typeface="JetBrains Mono"/>
              </a:rPr>
              <a:t>PLATFORM 02 / 05</a:t>
            </a:r>
            <a:endParaRPr b="0" lang="en-US" sz="1400" spc="-1" strike="sngStrike">
              <a:solidFill>
                <a:srgbClr val="000000"/>
              </a:solidFill>
              <a:latin typeface="Arial"/>
            </a:endParaRPr>
          </a:p>
        </p:txBody>
      </p:sp>
      <p:sp>
        <p:nvSpPr>
          <p:cNvPr id="87" name="Google Shape;108;p14"/>
          <p:cNvSpPr/>
          <p:nvPr/>
        </p:nvSpPr>
        <p:spPr>
          <a:xfrm>
            <a:off x="5486400" y="258480"/>
            <a:ext cx="7314840" cy="21420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Lst>
            </a:pPr>
            <a:r>
              <a:rPr b="1" lang="en-US" sz="1400" spc="-1" strike="noStrike">
                <a:solidFill>
                  <a:srgbClr val="ffffff"/>
                </a:solidFill>
                <a:latin typeface="JetBrains Mono"/>
                <a:ea typeface="JetBrains Mono"/>
              </a:rPr>
              <a:t>HACKMERIDIAN 2026 · LISBON</a:t>
            </a:r>
            <a:endParaRPr b="0" lang="en-US" sz="1400" spc="-1" strike="sngStrike">
              <a:solidFill>
                <a:srgbClr val="000000"/>
              </a:solidFill>
              <a:latin typeface="Arial"/>
            </a:endParaRPr>
          </a:p>
        </p:txBody>
      </p:sp>
      <p:sp>
        <p:nvSpPr>
          <p:cNvPr id="88" name="Google Shape;109;p14"/>
          <p:cNvSpPr/>
          <p:nvPr/>
        </p:nvSpPr>
        <p:spPr>
          <a:xfrm>
            <a:off x="12801600" y="258480"/>
            <a:ext cx="4571640" cy="214200"/>
          </a:xfrm>
          <a:prstGeom prst="rect">
            <a:avLst/>
          </a:prstGeom>
          <a:noFill/>
          <a:ln w="0">
            <a:noFill/>
          </a:ln>
        </p:spPr>
        <p:style>
          <a:lnRef idx="0"/>
          <a:fillRef idx="0"/>
          <a:effectRef idx="0"/>
          <a:fontRef idx="minor"/>
        </p:style>
        <p:txBody>
          <a:bodyPr lIns="0" rIns="0" tIns="0" bIns="0" anchor="ctr">
            <a:spAutoFit/>
          </a:bodyPr>
          <a:p>
            <a:pPr algn="r">
              <a:lnSpc>
                <a:spcPct val="100000"/>
              </a:lnSpc>
              <a:tabLst>
                <a:tab algn="l" pos="0"/>
              </a:tabLst>
            </a:pPr>
            <a:r>
              <a:rPr b="1" lang="en-US" sz="1400" spc="-1" strike="noStrike">
                <a:solidFill>
                  <a:srgbClr val="ffffff"/>
                </a:solidFill>
                <a:latin typeface="JetBrains Mono"/>
                <a:ea typeface="JetBrains Mono"/>
              </a:rPr>
              <a:t>NEXT ▸ PMF</a:t>
            </a:r>
            <a:endParaRPr b="0" lang="en-US" sz="1400" spc="-1" strike="sngStrike">
              <a:solidFill>
                <a:srgbClr val="000000"/>
              </a:solidFill>
              <a:latin typeface="Arial"/>
            </a:endParaRPr>
          </a:p>
        </p:txBody>
      </p:sp>
      <p:sp>
        <p:nvSpPr>
          <p:cNvPr id="89" name="Google Shape;110;p14"/>
          <p:cNvSpPr/>
          <p:nvPr/>
        </p:nvSpPr>
        <p:spPr>
          <a:xfrm>
            <a:off x="914400" y="1417320"/>
            <a:ext cx="2651400" cy="475200"/>
          </a:xfrm>
          <a:prstGeom prst="roundRect">
            <a:avLst>
              <a:gd name="adj" fmla="val 50000"/>
            </a:avLst>
          </a:prstGeom>
          <a:solidFill>
            <a:srgbClr val="fdda24"/>
          </a:solid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200" spc="-1" strike="noStrike">
                <a:solidFill>
                  <a:srgbClr val="0f0f0f"/>
                </a:solidFill>
                <a:latin typeface="JetBrains Mono"/>
                <a:ea typeface="JetBrains Mono"/>
              </a:rPr>
              <a:t>PITCH STEP 01 / 04</a:t>
            </a:r>
            <a:endParaRPr b="0" lang="en-US" sz="1200" spc="-1" strike="sngStrike">
              <a:solidFill>
                <a:srgbClr val="000000"/>
              </a:solidFill>
              <a:latin typeface="Arial"/>
            </a:endParaRPr>
          </a:p>
        </p:txBody>
      </p:sp>
      <p:sp>
        <p:nvSpPr>
          <p:cNvPr id="90" name="Google Shape;111;p14"/>
          <p:cNvSpPr/>
          <p:nvPr/>
        </p:nvSpPr>
        <p:spPr>
          <a:xfrm>
            <a:off x="914400" y="2103120"/>
            <a:ext cx="16458840" cy="15238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10000" spc="-1" strike="noStrike">
                <a:solidFill>
                  <a:srgbClr val="0f0f0f"/>
                </a:solidFill>
                <a:latin typeface="Inter Tight"/>
                <a:ea typeface="Inter Tight"/>
              </a:rPr>
              <a:t>Safe convenience</a:t>
            </a:r>
            <a:endParaRPr b="0" lang="en-US" sz="10000" spc="-1" strike="sngStrike">
              <a:solidFill>
                <a:srgbClr val="000000"/>
              </a:solidFill>
              <a:latin typeface="Arial"/>
            </a:endParaRPr>
          </a:p>
        </p:txBody>
      </p:sp>
      <p:sp>
        <p:nvSpPr>
          <p:cNvPr id="91" name="Google Shape;112;p14"/>
          <p:cNvSpPr/>
          <p:nvPr/>
        </p:nvSpPr>
        <p:spPr>
          <a:xfrm>
            <a:off x="914400" y="3931920"/>
            <a:ext cx="1097244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2800" spc="-1" strike="noStrike">
                <a:solidFill>
                  <a:srgbClr val="0f0f0f"/>
                </a:solidFill>
                <a:latin typeface="Instrument Sans"/>
                <a:ea typeface="Instrument Sans"/>
              </a:rPr>
              <a:t>Keep it secret, keep it safe!</a:t>
            </a:r>
            <a:endParaRPr b="0" lang="en-US" sz="2800" spc="-1" strike="sngStrike">
              <a:solidFill>
                <a:srgbClr val="000000"/>
              </a:solidFill>
              <a:latin typeface="Arial"/>
            </a:endParaRPr>
          </a:p>
        </p:txBody>
      </p:sp>
      <p:sp>
        <p:nvSpPr>
          <p:cNvPr id="92" name="Google Shape;113;p14"/>
          <p:cNvSpPr/>
          <p:nvPr/>
        </p:nvSpPr>
        <p:spPr>
          <a:xfrm>
            <a:off x="914400" y="4709160"/>
            <a:ext cx="11612520" cy="1645560"/>
          </a:xfrm>
          <a:prstGeom prst="rect">
            <a:avLst/>
          </a:prstGeom>
          <a:noFill/>
          <a:ln w="0">
            <a:noFill/>
          </a:ln>
        </p:spPr>
        <p:style>
          <a:lnRef idx="0"/>
          <a:fillRef idx="0"/>
          <a:effectRef idx="0"/>
          <a:fontRef idx="minor"/>
        </p:style>
        <p:txBody>
          <a:bodyPr lIns="0" rIns="0" tIns="0" bIns="0" anchor="t">
            <a:spAutoFit/>
          </a:bodyPr>
          <a:p>
            <a:pPr marL="411480" indent="-411480">
              <a:lnSpc>
                <a:spcPct val="100000"/>
              </a:lnSpc>
              <a:buClr>
                <a:srgbClr val="0f0f0f"/>
              </a:buClr>
              <a:buFont typeface="Arial"/>
              <a:buChar char="►"/>
            </a:pPr>
            <a:r>
              <a:rPr b="0" lang="en-US" sz="1800" spc="-1" strike="noStrike">
                <a:solidFill>
                  <a:srgbClr val="2a2a2a"/>
                </a:solidFill>
                <a:latin typeface="Instrument Sans"/>
                <a:ea typeface="Instrument Sans"/>
              </a:rPr>
              <a:t>Your hardware wallet keeps your funds protected and safe</a:t>
            </a:r>
            <a:endParaRPr b="0" lang="en-US" sz="1800" spc="-1" strike="sngStrike">
              <a:solidFill>
                <a:srgbClr val="000000"/>
              </a:solidFill>
              <a:latin typeface="Arial"/>
            </a:endParaRPr>
          </a:p>
          <a:p>
            <a:pPr marL="411480" indent="-411480">
              <a:lnSpc>
                <a:spcPct val="100000"/>
              </a:lnSpc>
              <a:buClr>
                <a:srgbClr val="0f0f0f"/>
              </a:buClr>
              <a:buFont typeface="Arial"/>
              <a:buChar char="►"/>
            </a:pPr>
            <a:r>
              <a:rPr b="0" lang="en-US" sz="1800" spc="-1" strike="noStrike">
                <a:solidFill>
                  <a:srgbClr val="2a2a2a"/>
                </a:solidFill>
                <a:latin typeface="Instrument Sans"/>
                <a:ea typeface="Instrument Sans"/>
              </a:rPr>
              <a:t>So why take it out every time you need to make a routine transaction?</a:t>
            </a:r>
            <a:endParaRPr b="0" lang="en-US" sz="1800" spc="-1" strike="sngStrike">
              <a:solidFill>
                <a:srgbClr val="000000"/>
              </a:solidFill>
              <a:latin typeface="Arial"/>
            </a:endParaRPr>
          </a:p>
          <a:p>
            <a:pPr marL="411480" indent="-411480">
              <a:lnSpc>
                <a:spcPct val="100000"/>
              </a:lnSpc>
              <a:buClr>
                <a:srgbClr val="0f0f0f"/>
              </a:buClr>
              <a:buFont typeface="Arial"/>
              <a:buChar char="►"/>
            </a:pPr>
            <a:endParaRPr b="0" lang="en-US" sz="1800" spc="-1" strike="sngStrike">
              <a:solidFill>
                <a:srgbClr val="000000"/>
              </a:solidFill>
              <a:latin typeface="Arial"/>
            </a:endParaRPr>
          </a:p>
          <a:p>
            <a:pPr marL="411480" indent="-411480">
              <a:lnSpc>
                <a:spcPct val="100000"/>
              </a:lnSpc>
              <a:buClr>
                <a:srgbClr val="0f0f0f"/>
              </a:buClr>
              <a:buFont typeface="Arial"/>
              <a:buChar char="►"/>
            </a:pPr>
            <a:r>
              <a:rPr b="0" lang="en-US" sz="1800" spc="-1" strike="noStrike">
                <a:solidFill>
                  <a:srgbClr val="2a2a2a"/>
                </a:solidFill>
                <a:latin typeface="Instrument Sans"/>
                <a:ea typeface="Instrument Sans"/>
              </a:rPr>
              <a:t>With Sidekey, your hardware wallet can stay safely stored. You decide which interactions are allowed with just your phone. </a:t>
            </a:r>
            <a:br>
              <a:rPr sz="1800"/>
            </a:br>
            <a:r>
              <a:rPr b="0" lang="en-US" sz="1800" spc="-1" strike="noStrike">
                <a:solidFill>
                  <a:srgbClr val="2a2a2a"/>
                </a:solidFill>
                <a:latin typeface="Instrument Sans"/>
                <a:ea typeface="Instrument Sans"/>
              </a:rPr>
              <a:t>Anyhing else? Not allowed!</a:t>
            </a:r>
            <a:endParaRPr b="0" lang="en-US" sz="1800" spc="-1" strike="sngStrike">
              <a:solidFill>
                <a:srgbClr val="000000"/>
              </a:solidFill>
              <a:latin typeface="Arial"/>
            </a:endParaRPr>
          </a:p>
        </p:txBody>
      </p:sp>
      <p:sp>
        <p:nvSpPr>
          <p:cNvPr id="93" name="Google Shape;115;p14"/>
          <p:cNvSpPr/>
          <p:nvPr/>
        </p:nvSpPr>
        <p:spPr>
          <a:xfrm>
            <a:off x="12893040" y="4023360"/>
            <a:ext cx="4480200" cy="2597400"/>
          </a:xfrm>
          <a:custGeom>
            <a:avLst/>
            <a:gdLst>
              <a:gd name="textAreaLeft" fmla="*/ 0 w 4480200"/>
              <a:gd name="textAreaRight" fmla="*/ 4480560 w 4480200"/>
              <a:gd name="textAreaTop" fmla="*/ 0 h 2597400"/>
              <a:gd name="textAreaBottom" fmla="*/ 2597760 h 2597400"/>
            </a:gdLst>
            <a:ahLst/>
            <a:rect l="textAreaLeft" t="textAreaTop" r="textAreaRight" b="textAreaBottom"/>
            <a:pathLst>
              <a:path w="4480560" h="2597771">
                <a:moveTo>
                  <a:pt x="0" y="0"/>
                </a:moveTo>
                <a:lnTo>
                  <a:pt x="0" y="1000976"/>
                </a:lnTo>
                <a:lnTo>
                  <a:pt x="2240280" y="2597771"/>
                </a:lnTo>
                <a:lnTo>
                  <a:pt x="4480560" y="1000976"/>
                </a:lnTo>
                <a:lnTo>
                  <a:pt x="4480560" y="0"/>
                </a:lnTo>
                <a:lnTo>
                  <a:pt x="2240280" y="1358467"/>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94" name="Google Shape;116;p14"/>
          <p:cNvSpPr/>
          <p:nvPr/>
        </p:nvSpPr>
        <p:spPr>
          <a:xfrm>
            <a:off x="12893040" y="5882400"/>
            <a:ext cx="1310400" cy="1620360"/>
          </a:xfrm>
          <a:custGeom>
            <a:avLst/>
            <a:gdLst>
              <a:gd name="textAreaLeft" fmla="*/ 0 w 1310400"/>
              <a:gd name="textAreaRight" fmla="*/ 1310760 w 1310400"/>
              <a:gd name="textAreaTop" fmla="*/ 0 h 1620360"/>
              <a:gd name="textAreaBottom" fmla="*/ 1620720 h 1620360"/>
            </a:gdLst>
            <a:ahLst/>
            <a:rect l="textAreaLeft" t="textAreaTop" r="textAreaRight" b="textAreaBottom"/>
            <a:pathLst>
              <a:path w="1310802" h="1620628">
                <a:moveTo>
                  <a:pt x="0" y="0"/>
                </a:moveTo>
                <a:lnTo>
                  <a:pt x="0" y="1620628"/>
                </a:lnTo>
                <a:lnTo>
                  <a:pt x="1310802" y="786482"/>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95" name="Google Shape;117;p14"/>
          <p:cNvSpPr/>
          <p:nvPr/>
        </p:nvSpPr>
        <p:spPr>
          <a:xfrm>
            <a:off x="16062840" y="5882400"/>
            <a:ext cx="1310400" cy="1620360"/>
          </a:xfrm>
          <a:custGeom>
            <a:avLst/>
            <a:gdLst>
              <a:gd name="textAreaLeft" fmla="*/ 0 w 1310400"/>
              <a:gd name="textAreaRight" fmla="*/ 1310760 w 1310400"/>
              <a:gd name="textAreaTop" fmla="*/ 0 h 1620360"/>
              <a:gd name="textAreaBottom" fmla="*/ 1620720 h 1620360"/>
            </a:gdLst>
            <a:ahLst/>
            <a:rect l="textAreaLeft" t="textAreaTop" r="textAreaRight" b="textAreaBottom"/>
            <a:pathLst>
              <a:path w="1310803" h="1620628">
                <a:moveTo>
                  <a:pt x="1310803" y="0"/>
                </a:moveTo>
                <a:lnTo>
                  <a:pt x="1310803" y="1620628"/>
                </a:lnTo>
                <a:lnTo>
                  <a:pt x="0" y="786482"/>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96" name="Google Shape;118;p14"/>
          <p:cNvSpPr/>
          <p:nvPr/>
        </p:nvSpPr>
        <p:spPr>
          <a:xfrm rot="5400000">
            <a:off x="15133680" y="7498080"/>
            <a:ext cx="502560" cy="502560"/>
          </a:xfrm>
          <a:prstGeom prst="triangle">
            <a:avLst>
              <a:gd name="adj" fmla="val 50000"/>
            </a:avLst>
          </a:prstGeom>
          <a:solidFill>
            <a:srgbClr val="fdda24"/>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97" name="Google Shape;119;p14"/>
          <p:cNvSpPr/>
          <p:nvPr/>
        </p:nvSpPr>
        <p:spPr>
          <a:xfrm rot="5400000">
            <a:off x="15611400" y="7498080"/>
            <a:ext cx="502560" cy="502560"/>
          </a:xfrm>
          <a:prstGeom prst="triangle">
            <a:avLst>
              <a:gd name="adj" fmla="val 50000"/>
            </a:avLst>
          </a:prstGeom>
          <a:solidFill>
            <a:srgbClr val="fdda24">
              <a:alpha val="60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98" name="Google Shape;120;p14"/>
          <p:cNvSpPr/>
          <p:nvPr/>
        </p:nvSpPr>
        <p:spPr>
          <a:xfrm rot="5400000">
            <a:off x="16089120" y="7498080"/>
            <a:ext cx="502560" cy="502560"/>
          </a:xfrm>
          <a:prstGeom prst="triangle">
            <a:avLst>
              <a:gd name="adj" fmla="val 50000"/>
            </a:avLst>
          </a:prstGeom>
          <a:solidFill>
            <a:srgbClr val="fdda24">
              <a:alpha val="30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99" name="Google Shape;121;p14"/>
          <p:cNvSpPr/>
          <p:nvPr/>
        </p:nvSpPr>
        <p:spPr>
          <a:xfrm>
            <a:off x="914400" y="8915400"/>
            <a:ext cx="16458840" cy="13320"/>
          </a:xfrm>
          <a:prstGeom prst="rect">
            <a:avLst/>
          </a:prstGeom>
          <a:solidFill>
            <a:srgbClr val="dfddd6"/>
          </a:solidFill>
          <a:ln w="0">
            <a:noFill/>
          </a:ln>
        </p:spPr>
        <p:style>
          <a:lnRef idx="0"/>
          <a:fillRef idx="0"/>
          <a:effectRef idx="0"/>
          <a:fontRef idx="minor"/>
        </p:style>
        <p:txBody>
          <a:bodyPr tIns="6840" bIns="6840" anchor="ctr">
            <a:noAutofit/>
          </a:bodyPr>
          <a:p>
            <a:pPr algn="ctr">
              <a:lnSpc>
                <a:spcPct val="100000"/>
              </a:lnSpc>
              <a:tabLst>
                <a:tab algn="l" pos="0"/>
              </a:tabLst>
            </a:pPr>
            <a:endParaRPr b="0" lang="en-US" sz="1400" spc="-1" strike="sngStrike">
              <a:solidFill>
                <a:srgbClr val="000000"/>
              </a:solidFill>
              <a:latin typeface="Arial"/>
            </a:endParaRPr>
          </a:p>
        </p:txBody>
      </p:sp>
      <p:sp>
        <p:nvSpPr>
          <p:cNvPr id="100" name="Google Shape;122;p14"/>
          <p:cNvSpPr/>
          <p:nvPr/>
        </p:nvSpPr>
        <p:spPr>
          <a:xfrm>
            <a:off x="914400" y="9321840"/>
            <a:ext cx="9143640" cy="18360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0" lang="en-US" sz="1200" spc="-1" strike="noStrike">
                <a:solidFill>
                  <a:srgbClr val="5c5c5c"/>
                </a:solidFill>
                <a:latin typeface="JetBrains Mono"/>
                <a:ea typeface="JetBrains Mono"/>
              </a:rPr>
              <a:t>© 2026 HackMeridian · Lisbon  ·  #HackMeridian26</a:t>
            </a:r>
            <a:endParaRPr b="0" lang="en-US" sz="1200" spc="-1" strike="sngStrike">
              <a:solidFill>
                <a:srgbClr val="000000"/>
              </a:solidFill>
              <a:latin typeface="Arial"/>
            </a:endParaRPr>
          </a:p>
        </p:txBody>
      </p:sp>
      <p:pic>
        <p:nvPicPr>
          <p:cNvPr id="101" name="Google Shape;123;p14" descr="hm-black.png"/>
          <p:cNvPicPr/>
          <p:nvPr/>
        </p:nvPicPr>
        <p:blipFill>
          <a:blip r:embed="rId1"/>
          <a:stretch/>
        </p:blipFill>
        <p:spPr>
          <a:xfrm>
            <a:off x="14859000" y="9171360"/>
            <a:ext cx="2517480" cy="438480"/>
          </a:xfrm>
          <a:prstGeom prst="rect">
            <a:avLst/>
          </a:prstGeom>
          <a:ln w="0">
            <a:noFill/>
          </a:ln>
        </p:spPr>
      </p:pic>
      <p:pic>
        <p:nvPicPr>
          <p:cNvPr id="102" name="" descr=""/>
          <p:cNvPicPr/>
          <p:nvPr/>
        </p:nvPicPr>
        <p:blipFill>
          <a:blip r:embed="rId2"/>
          <a:stretch/>
        </p:blipFill>
        <p:spPr>
          <a:xfrm rot="21592800">
            <a:off x="230040" y="6639840"/>
            <a:ext cx="10058400" cy="1562040"/>
          </a:xfrm>
          <a:prstGeom prst="rect">
            <a:avLst/>
          </a:prstGeom>
          <a:ln w="0">
            <a:noFill/>
          </a:ln>
        </p:spPr>
      </p:pic>
      <p:pic>
        <p:nvPicPr>
          <p:cNvPr id="103" name="" descr=""/>
          <p:cNvPicPr/>
          <p:nvPr/>
        </p:nvPicPr>
        <p:blipFill>
          <a:blip r:embed="rId3"/>
          <a:stretch/>
        </p:blipFill>
        <p:spPr>
          <a:xfrm>
            <a:off x="12115800" y="3324600"/>
            <a:ext cx="6254640" cy="1247400"/>
          </a:xfrm>
          <a:prstGeom prst="rect">
            <a:avLst/>
          </a:prstGeom>
          <a:ln w="0">
            <a:noFill/>
          </a:ln>
        </p:spPr>
      </p:pic>
      <p:pic>
        <p:nvPicPr>
          <p:cNvPr id="104" name="" descr=""/>
          <p:cNvPicPr/>
          <p:nvPr/>
        </p:nvPicPr>
        <p:blipFill>
          <a:blip r:embed="rId4"/>
          <a:stretch/>
        </p:blipFill>
        <p:spPr>
          <a:xfrm>
            <a:off x="11201400" y="6400800"/>
            <a:ext cx="6858000" cy="1992960"/>
          </a:xfrm>
          <a:prstGeom prst="rect">
            <a:avLst/>
          </a:prstGeom>
          <a:ln w="0">
            <a:noFill/>
          </a:ln>
        </p:spPr>
      </p:pic>
      <p:sp>
        <p:nvSpPr>
          <p:cNvPr id="105" name=""/>
          <p:cNvSpPr txBox="1"/>
          <p:nvPr/>
        </p:nvSpPr>
        <p:spPr>
          <a:xfrm>
            <a:off x="914400" y="8212680"/>
            <a:ext cx="8001000" cy="401400"/>
          </a:xfrm>
          <a:prstGeom prst="rect">
            <a:avLst/>
          </a:prstGeom>
          <a:noFill/>
          <a:ln w="0">
            <a:noFill/>
          </a:ln>
        </p:spPr>
        <p:txBody>
          <a:bodyPr lIns="90000" rIns="90000" tIns="45000" bIns="45000" anchor="t">
            <a:noAutofit/>
          </a:bodyPr>
          <a:p>
            <a:r>
              <a:rPr b="0" lang="en-US" sz="1800" spc="-1" strike="noStrike">
                <a:solidFill>
                  <a:srgbClr val="2a2a2a"/>
                </a:solidFill>
                <a:latin typeface="Instrument Sans"/>
                <a:ea typeface="Instrument Sans"/>
              </a:rPr>
              <a:t>A passkey may call claim() on a yield emitting contract</a:t>
            </a:r>
            <a:endParaRPr b="0" lang="en-US" sz="1800" spc="-1" strike="sngStrike">
              <a:solidFill>
                <a:srgbClr val="000000"/>
              </a:solidFill>
              <a:latin typeface="Arial"/>
            </a:endParaRPr>
          </a:p>
        </p:txBody>
      </p:sp>
      <p:sp>
        <p:nvSpPr>
          <p:cNvPr id="106" name=""/>
          <p:cNvSpPr txBox="1"/>
          <p:nvPr/>
        </p:nvSpPr>
        <p:spPr>
          <a:xfrm>
            <a:off x="12344400" y="4572000"/>
            <a:ext cx="8001000" cy="401400"/>
          </a:xfrm>
          <a:prstGeom prst="rect">
            <a:avLst/>
          </a:prstGeom>
          <a:noFill/>
          <a:ln w="0">
            <a:noFill/>
          </a:ln>
        </p:spPr>
        <p:txBody>
          <a:bodyPr lIns="90000" rIns="90000" tIns="45000" bIns="45000" anchor="t">
            <a:noAutofit/>
          </a:bodyPr>
          <a:p>
            <a:r>
              <a:rPr b="0" lang="en-US" sz="1800" spc="-1" strike="noStrike">
                <a:solidFill>
                  <a:srgbClr val="2a2a2a"/>
                </a:solidFill>
                <a:latin typeface="Instrument Sans"/>
                <a:ea typeface="Instrument Sans"/>
              </a:rPr>
              <a:t>You allowed it!</a:t>
            </a:r>
            <a:endParaRPr b="0" lang="en-US" sz="1800" spc="-1" strike="sngStrike">
              <a:solidFill>
                <a:srgbClr val="000000"/>
              </a:solidFill>
              <a:latin typeface="Arial"/>
            </a:endParaRPr>
          </a:p>
        </p:txBody>
      </p:sp>
      <p:sp>
        <p:nvSpPr>
          <p:cNvPr id="107" name=""/>
          <p:cNvSpPr txBox="1"/>
          <p:nvPr/>
        </p:nvSpPr>
        <p:spPr>
          <a:xfrm>
            <a:off x="11887200" y="8527320"/>
            <a:ext cx="8001000" cy="401400"/>
          </a:xfrm>
          <a:prstGeom prst="rect">
            <a:avLst/>
          </a:prstGeom>
          <a:noFill/>
          <a:ln w="0">
            <a:noFill/>
          </a:ln>
        </p:spPr>
        <p:txBody>
          <a:bodyPr lIns="90000" rIns="90000" tIns="45000" bIns="45000" anchor="t">
            <a:noAutofit/>
          </a:bodyPr>
          <a:p>
            <a:r>
              <a:rPr b="0" lang="en-US" sz="1800" spc="-1" strike="noStrike">
                <a:solidFill>
                  <a:srgbClr val="2a2a2a"/>
                </a:solidFill>
                <a:latin typeface="Instrument Sans"/>
                <a:ea typeface="Instrument Sans"/>
              </a:rPr>
              <a:t>Transfer? Not allowed!</a:t>
            </a:r>
            <a:endParaRPr b="0" lang="en-US" sz="1800" spc="-1" strike="sng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108" name="Google Shape;128;p15"/>
          <p:cNvSpPr/>
          <p:nvPr/>
        </p:nvSpPr>
        <p:spPr>
          <a:xfrm>
            <a:off x="0" y="0"/>
            <a:ext cx="18287640" cy="731160"/>
          </a:xfrm>
          <a:prstGeom prst="rect">
            <a:avLst/>
          </a:prstGeom>
          <a:solidFill>
            <a:srgbClr val="0f0f0f"/>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09" name="Google Shape;129;p15"/>
          <p:cNvSpPr/>
          <p:nvPr/>
        </p:nvSpPr>
        <p:spPr>
          <a:xfrm>
            <a:off x="914400" y="258480"/>
            <a:ext cx="4571640" cy="21420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1400" spc="-1" strike="noStrike">
                <a:solidFill>
                  <a:srgbClr val="fdda24"/>
                </a:solidFill>
                <a:latin typeface="JetBrains Mono"/>
                <a:ea typeface="JetBrains Mono"/>
              </a:rPr>
              <a:t>PLATFORM 03 / 05</a:t>
            </a:r>
            <a:endParaRPr b="0" lang="en-US" sz="1400" spc="-1" strike="sngStrike">
              <a:solidFill>
                <a:srgbClr val="000000"/>
              </a:solidFill>
              <a:latin typeface="Arial"/>
            </a:endParaRPr>
          </a:p>
        </p:txBody>
      </p:sp>
      <p:sp>
        <p:nvSpPr>
          <p:cNvPr id="110" name="Google Shape;130;p15"/>
          <p:cNvSpPr/>
          <p:nvPr/>
        </p:nvSpPr>
        <p:spPr>
          <a:xfrm>
            <a:off x="5486400" y="258480"/>
            <a:ext cx="7314840" cy="21420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Lst>
            </a:pPr>
            <a:r>
              <a:rPr b="1" lang="en-US" sz="1400" spc="-1" strike="noStrike">
                <a:solidFill>
                  <a:srgbClr val="ffffff"/>
                </a:solidFill>
                <a:latin typeface="JetBrains Mono"/>
                <a:ea typeface="JetBrains Mono"/>
              </a:rPr>
              <a:t>HACKMERIDIAN 2026 · LISBON</a:t>
            </a:r>
            <a:endParaRPr b="0" lang="en-US" sz="1400" spc="-1" strike="sngStrike">
              <a:solidFill>
                <a:srgbClr val="000000"/>
              </a:solidFill>
              <a:latin typeface="Arial"/>
            </a:endParaRPr>
          </a:p>
        </p:txBody>
      </p:sp>
      <p:sp>
        <p:nvSpPr>
          <p:cNvPr id="111" name="Google Shape;131;p15"/>
          <p:cNvSpPr/>
          <p:nvPr/>
        </p:nvSpPr>
        <p:spPr>
          <a:xfrm>
            <a:off x="12801600" y="258480"/>
            <a:ext cx="4571640" cy="214200"/>
          </a:xfrm>
          <a:prstGeom prst="rect">
            <a:avLst/>
          </a:prstGeom>
          <a:noFill/>
          <a:ln w="0">
            <a:noFill/>
          </a:ln>
        </p:spPr>
        <p:style>
          <a:lnRef idx="0"/>
          <a:fillRef idx="0"/>
          <a:effectRef idx="0"/>
          <a:fontRef idx="minor"/>
        </p:style>
        <p:txBody>
          <a:bodyPr lIns="0" rIns="0" tIns="0" bIns="0" anchor="ctr">
            <a:spAutoFit/>
          </a:bodyPr>
          <a:p>
            <a:pPr algn="r">
              <a:lnSpc>
                <a:spcPct val="100000"/>
              </a:lnSpc>
              <a:tabLst>
                <a:tab algn="l" pos="0"/>
              </a:tabLst>
            </a:pPr>
            <a:r>
              <a:rPr b="1" lang="en-US" sz="1400" spc="-1" strike="noStrike">
                <a:solidFill>
                  <a:srgbClr val="ffffff"/>
                </a:solidFill>
                <a:latin typeface="JetBrains Mono"/>
                <a:ea typeface="JetBrains Mono"/>
              </a:rPr>
              <a:t>NEXT ▸ TECHNICAL WORKFLOW</a:t>
            </a:r>
            <a:endParaRPr b="0" lang="en-US" sz="1400" spc="-1" strike="sngStrike">
              <a:solidFill>
                <a:srgbClr val="000000"/>
              </a:solidFill>
              <a:latin typeface="Arial"/>
            </a:endParaRPr>
          </a:p>
        </p:txBody>
      </p:sp>
      <p:sp>
        <p:nvSpPr>
          <p:cNvPr id="112" name="Google Shape;132;p15"/>
          <p:cNvSpPr/>
          <p:nvPr/>
        </p:nvSpPr>
        <p:spPr>
          <a:xfrm>
            <a:off x="914400" y="1417320"/>
            <a:ext cx="2651400" cy="475200"/>
          </a:xfrm>
          <a:prstGeom prst="roundRect">
            <a:avLst>
              <a:gd name="adj" fmla="val 50000"/>
            </a:avLst>
          </a:prstGeom>
          <a:solidFill>
            <a:srgbClr val="fdda24"/>
          </a:solid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200" spc="-1" strike="noStrike">
                <a:solidFill>
                  <a:srgbClr val="0f0f0f"/>
                </a:solidFill>
                <a:latin typeface="JetBrains Mono"/>
                <a:ea typeface="JetBrains Mono"/>
              </a:rPr>
              <a:t>PITCH STEP 02 / 04</a:t>
            </a:r>
            <a:endParaRPr b="0" lang="en-US" sz="1200" spc="-1" strike="sngStrike">
              <a:solidFill>
                <a:srgbClr val="000000"/>
              </a:solidFill>
              <a:latin typeface="Arial"/>
            </a:endParaRPr>
          </a:p>
        </p:txBody>
      </p:sp>
      <p:sp>
        <p:nvSpPr>
          <p:cNvPr id="113" name="Google Shape;133;p15"/>
          <p:cNvSpPr/>
          <p:nvPr/>
        </p:nvSpPr>
        <p:spPr>
          <a:xfrm>
            <a:off x="914400" y="2103120"/>
            <a:ext cx="16458840" cy="15238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10000" spc="-1" strike="noStrike">
                <a:solidFill>
                  <a:srgbClr val="0f0f0f"/>
                </a:solidFill>
                <a:latin typeface="Inter Tight"/>
                <a:ea typeface="Inter Tight"/>
              </a:rPr>
              <a:t>PMF</a:t>
            </a:r>
            <a:endParaRPr b="0" lang="en-US" sz="10000" spc="-1" strike="sngStrike">
              <a:solidFill>
                <a:srgbClr val="000000"/>
              </a:solidFill>
              <a:latin typeface="Arial"/>
            </a:endParaRPr>
          </a:p>
        </p:txBody>
      </p:sp>
      <p:sp>
        <p:nvSpPr>
          <p:cNvPr id="114" name="Google Shape;134;p15"/>
          <p:cNvSpPr/>
          <p:nvPr/>
        </p:nvSpPr>
        <p:spPr>
          <a:xfrm>
            <a:off x="914400" y="3931920"/>
            <a:ext cx="10972440" cy="12805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2800" spc="-1" strike="noStrike">
                <a:solidFill>
                  <a:srgbClr val="0f0f0f"/>
                </a:solidFill>
                <a:latin typeface="Instrument Sans"/>
                <a:ea typeface="Instrument Sans"/>
              </a:rPr>
              <a:t>Every day, thousands of kittens are injured because people drop their hardware wallet on them during routine transactions..</a:t>
            </a:r>
            <a:endParaRPr b="0" lang="en-US" sz="2800" spc="-1" strike="sngStrike">
              <a:solidFill>
                <a:srgbClr val="000000"/>
              </a:solidFill>
              <a:latin typeface="Arial"/>
            </a:endParaRPr>
          </a:p>
        </p:txBody>
      </p:sp>
      <p:sp>
        <p:nvSpPr>
          <p:cNvPr id="115" name="Google Shape;135;p15"/>
          <p:cNvSpPr/>
          <p:nvPr/>
        </p:nvSpPr>
        <p:spPr>
          <a:xfrm>
            <a:off x="914400" y="5303880"/>
            <a:ext cx="11612520" cy="1096920"/>
          </a:xfrm>
          <a:prstGeom prst="rect">
            <a:avLst/>
          </a:prstGeom>
          <a:noFill/>
          <a:ln w="0">
            <a:noFill/>
          </a:ln>
        </p:spPr>
        <p:style>
          <a:lnRef idx="0"/>
          <a:fillRef idx="0"/>
          <a:effectRef idx="0"/>
          <a:fontRef idx="minor"/>
        </p:style>
        <p:txBody>
          <a:bodyPr lIns="0" rIns="0" tIns="0" bIns="0" anchor="t">
            <a:spAutoFit/>
          </a:bodyPr>
          <a:p>
            <a:pPr marL="411480" indent="-411480">
              <a:lnSpc>
                <a:spcPct val="100000"/>
              </a:lnSpc>
              <a:buClr>
                <a:srgbClr val="0f0f0f"/>
              </a:buClr>
              <a:buFont typeface="Arial"/>
              <a:buChar char="►"/>
            </a:pPr>
            <a:r>
              <a:rPr b="0" lang="en-US" sz="2400" spc="-1" strike="noStrike">
                <a:solidFill>
                  <a:srgbClr val="2a2a2a"/>
                </a:solidFill>
                <a:latin typeface="Instrument Sans"/>
                <a:ea typeface="Instrument Sans"/>
              </a:rPr>
              <a:t>Well, potentially. I didn’t research that. But it could be!</a:t>
            </a:r>
            <a:endParaRPr b="0" lang="en-US" sz="2400" spc="-1" strike="sngStrike">
              <a:solidFill>
                <a:srgbClr val="000000"/>
              </a:solidFill>
              <a:latin typeface="Arial"/>
            </a:endParaRPr>
          </a:p>
          <a:p>
            <a:pPr marL="411480" indent="-411480">
              <a:lnSpc>
                <a:spcPct val="100000"/>
              </a:lnSpc>
              <a:buClr>
                <a:srgbClr val="0f0f0f"/>
              </a:buClr>
              <a:buFont typeface="Arial"/>
              <a:buChar char="►"/>
            </a:pPr>
            <a:endParaRPr b="0" lang="en-US" sz="2400" spc="-1" strike="sngStrike">
              <a:solidFill>
                <a:srgbClr val="000000"/>
              </a:solidFill>
              <a:latin typeface="Arial"/>
            </a:endParaRPr>
          </a:p>
          <a:p>
            <a:pPr marL="411480" indent="-411480">
              <a:lnSpc>
                <a:spcPct val="100000"/>
              </a:lnSpc>
              <a:buClr>
                <a:srgbClr val="0f0f0f"/>
              </a:buClr>
              <a:buFont typeface="Arial"/>
              <a:buChar char="►"/>
            </a:pPr>
            <a:r>
              <a:rPr b="0" lang="en-US" sz="2400" spc="-1" strike="noStrike">
                <a:solidFill>
                  <a:srgbClr val="2a2a2a"/>
                </a:solidFill>
                <a:latin typeface="Instrument Sans"/>
                <a:ea typeface="Instrument Sans"/>
              </a:rPr>
              <a:t>It solves an inconvenience, and promotes safety*</a:t>
            </a:r>
            <a:endParaRPr b="0" lang="en-US" sz="2400" spc="-1" strike="sngStrike">
              <a:solidFill>
                <a:srgbClr val="000000"/>
              </a:solidFill>
              <a:latin typeface="Arial"/>
            </a:endParaRPr>
          </a:p>
        </p:txBody>
      </p:sp>
      <p:sp>
        <p:nvSpPr>
          <p:cNvPr id="116" name="Google Shape;136;p15"/>
          <p:cNvSpPr/>
          <p:nvPr/>
        </p:nvSpPr>
        <p:spPr>
          <a:xfrm>
            <a:off x="914400" y="7086600"/>
            <a:ext cx="10789560" cy="1051200"/>
          </a:xfrm>
          <a:prstGeom prst="roundRect">
            <a:avLst>
              <a:gd name="adj" fmla="val 22000"/>
            </a:avLst>
          </a:prstGeom>
          <a:solidFill>
            <a:srgbClr val="ffffff"/>
          </a:solidFill>
          <a:ln w="38100">
            <a:solidFill>
              <a:srgbClr val="fdda24"/>
            </a:solidFill>
            <a:round/>
          </a:ln>
        </p:spPr>
        <p:style>
          <a:lnRef idx="0"/>
          <a:fillRef idx="0"/>
          <a:effectRef idx="0"/>
          <a:fontRef idx="minor"/>
        </p:style>
        <p:txBody>
          <a:bodyPr lIns="365760" rIns="365760" tIns="0" bIns="0" anchor="ctr">
            <a:noAutofit/>
          </a:bodyPr>
          <a:p>
            <a:pPr>
              <a:lnSpc>
                <a:spcPct val="100000"/>
              </a:lnSpc>
              <a:tabLst>
                <a:tab algn="l" pos="0"/>
              </a:tabLst>
            </a:pPr>
            <a:r>
              <a:rPr b="1" lang="en-US" sz="2400" spc="-1" strike="noStrike">
                <a:solidFill>
                  <a:srgbClr val="0f0f0f"/>
                </a:solidFill>
                <a:latin typeface="Instrument Sans"/>
                <a:ea typeface="Instrument Sans"/>
              </a:rPr>
              <a:t>👉 </a:t>
            </a:r>
            <a:r>
              <a:rPr b="1" lang="en-US" sz="2400" spc="-1" strike="noStrike">
                <a:solidFill>
                  <a:srgbClr val="0f0f0f"/>
                </a:solidFill>
                <a:latin typeface="Instrument Sans"/>
                <a:ea typeface="Instrument Sans"/>
              </a:rPr>
              <a:t>Why you should care? </a:t>
            </a:r>
            <a:r>
              <a:rPr b="0" lang="en-US" sz="1800" spc="-1" strike="noStrike">
                <a:solidFill>
                  <a:srgbClr val="0f0f0f"/>
                </a:solidFill>
                <a:latin typeface="Instrument Sans"/>
                <a:ea typeface="Instrument Sans"/>
              </a:rPr>
              <a:t>Policy signers are in the spotlight with x402, but don’t neglect their potential for ‘human accounts’. It allows for convenience improvements like this, but can for example also limit how much you(r kids) can spend on silly games. </a:t>
            </a:r>
            <a:endParaRPr b="0" lang="en-US" sz="1800" spc="-1" strike="sngStrike">
              <a:solidFill>
                <a:srgbClr val="000000"/>
              </a:solidFill>
              <a:latin typeface="Arial"/>
            </a:endParaRPr>
          </a:p>
        </p:txBody>
      </p:sp>
      <p:sp>
        <p:nvSpPr>
          <p:cNvPr id="117" name="Google Shape;137;p15"/>
          <p:cNvSpPr/>
          <p:nvPr/>
        </p:nvSpPr>
        <p:spPr>
          <a:xfrm>
            <a:off x="12893040" y="4023360"/>
            <a:ext cx="4480200" cy="2597400"/>
          </a:xfrm>
          <a:custGeom>
            <a:avLst/>
            <a:gdLst>
              <a:gd name="textAreaLeft" fmla="*/ 0 w 4480200"/>
              <a:gd name="textAreaRight" fmla="*/ 4480560 w 4480200"/>
              <a:gd name="textAreaTop" fmla="*/ 0 h 2597400"/>
              <a:gd name="textAreaBottom" fmla="*/ 2597760 h 2597400"/>
            </a:gdLst>
            <a:ahLst/>
            <a:rect l="textAreaLeft" t="textAreaTop" r="textAreaRight" b="textAreaBottom"/>
            <a:pathLst>
              <a:path w="4480560" h="2597771">
                <a:moveTo>
                  <a:pt x="0" y="0"/>
                </a:moveTo>
                <a:lnTo>
                  <a:pt x="0" y="1000976"/>
                </a:lnTo>
                <a:lnTo>
                  <a:pt x="2240280" y="2597771"/>
                </a:lnTo>
                <a:lnTo>
                  <a:pt x="4480560" y="1000976"/>
                </a:lnTo>
                <a:lnTo>
                  <a:pt x="4480560" y="0"/>
                </a:lnTo>
                <a:lnTo>
                  <a:pt x="2240280" y="1358467"/>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18" name="Google Shape;138;p15"/>
          <p:cNvSpPr/>
          <p:nvPr/>
        </p:nvSpPr>
        <p:spPr>
          <a:xfrm>
            <a:off x="12893040" y="5882400"/>
            <a:ext cx="1310400" cy="1620360"/>
          </a:xfrm>
          <a:custGeom>
            <a:avLst/>
            <a:gdLst>
              <a:gd name="textAreaLeft" fmla="*/ 0 w 1310400"/>
              <a:gd name="textAreaRight" fmla="*/ 1310760 w 1310400"/>
              <a:gd name="textAreaTop" fmla="*/ 0 h 1620360"/>
              <a:gd name="textAreaBottom" fmla="*/ 1620720 h 1620360"/>
            </a:gdLst>
            <a:ahLst/>
            <a:rect l="textAreaLeft" t="textAreaTop" r="textAreaRight" b="textAreaBottom"/>
            <a:pathLst>
              <a:path w="1310802" h="1620628">
                <a:moveTo>
                  <a:pt x="0" y="0"/>
                </a:moveTo>
                <a:lnTo>
                  <a:pt x="0" y="1620628"/>
                </a:lnTo>
                <a:lnTo>
                  <a:pt x="1310802" y="786482"/>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19" name="Google Shape;139;p15"/>
          <p:cNvSpPr/>
          <p:nvPr/>
        </p:nvSpPr>
        <p:spPr>
          <a:xfrm>
            <a:off x="16062840" y="5882400"/>
            <a:ext cx="1310400" cy="1620360"/>
          </a:xfrm>
          <a:custGeom>
            <a:avLst/>
            <a:gdLst>
              <a:gd name="textAreaLeft" fmla="*/ 0 w 1310400"/>
              <a:gd name="textAreaRight" fmla="*/ 1310760 w 1310400"/>
              <a:gd name="textAreaTop" fmla="*/ 0 h 1620360"/>
              <a:gd name="textAreaBottom" fmla="*/ 1620720 h 1620360"/>
            </a:gdLst>
            <a:ahLst/>
            <a:rect l="textAreaLeft" t="textAreaTop" r="textAreaRight" b="textAreaBottom"/>
            <a:pathLst>
              <a:path w="1310803" h="1620628">
                <a:moveTo>
                  <a:pt x="1310803" y="0"/>
                </a:moveTo>
                <a:lnTo>
                  <a:pt x="1310803" y="1620628"/>
                </a:lnTo>
                <a:lnTo>
                  <a:pt x="0" y="786482"/>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20" name="Google Shape;140;p15"/>
          <p:cNvSpPr/>
          <p:nvPr/>
        </p:nvSpPr>
        <p:spPr>
          <a:xfrm rot="5400000">
            <a:off x="15133680" y="7498080"/>
            <a:ext cx="502560" cy="502560"/>
          </a:xfrm>
          <a:prstGeom prst="triangle">
            <a:avLst>
              <a:gd name="adj" fmla="val 50000"/>
            </a:avLst>
          </a:prstGeom>
          <a:solidFill>
            <a:srgbClr val="fdda24"/>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121" name="Google Shape;141;p15"/>
          <p:cNvSpPr/>
          <p:nvPr/>
        </p:nvSpPr>
        <p:spPr>
          <a:xfrm rot="5400000">
            <a:off x="15611400" y="7498080"/>
            <a:ext cx="502560" cy="502560"/>
          </a:xfrm>
          <a:prstGeom prst="triangle">
            <a:avLst>
              <a:gd name="adj" fmla="val 50000"/>
            </a:avLst>
          </a:prstGeom>
          <a:solidFill>
            <a:srgbClr val="fdda24">
              <a:alpha val="60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122" name="Google Shape;142;p15"/>
          <p:cNvSpPr/>
          <p:nvPr/>
        </p:nvSpPr>
        <p:spPr>
          <a:xfrm rot="5400000">
            <a:off x="16089120" y="7498080"/>
            <a:ext cx="502560" cy="502560"/>
          </a:xfrm>
          <a:prstGeom prst="triangle">
            <a:avLst>
              <a:gd name="adj" fmla="val 50000"/>
            </a:avLst>
          </a:prstGeom>
          <a:solidFill>
            <a:srgbClr val="fdda24">
              <a:alpha val="30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123" name="Google Shape;143;p15"/>
          <p:cNvSpPr/>
          <p:nvPr/>
        </p:nvSpPr>
        <p:spPr>
          <a:xfrm>
            <a:off x="914400" y="8915400"/>
            <a:ext cx="16458840" cy="13320"/>
          </a:xfrm>
          <a:prstGeom prst="rect">
            <a:avLst/>
          </a:prstGeom>
          <a:solidFill>
            <a:srgbClr val="dfddd6"/>
          </a:solidFill>
          <a:ln w="0">
            <a:noFill/>
          </a:ln>
        </p:spPr>
        <p:style>
          <a:lnRef idx="0"/>
          <a:fillRef idx="0"/>
          <a:effectRef idx="0"/>
          <a:fontRef idx="minor"/>
        </p:style>
        <p:txBody>
          <a:bodyPr tIns="6840" bIns="6840" anchor="ctr">
            <a:noAutofit/>
          </a:bodyPr>
          <a:p>
            <a:pPr algn="ctr">
              <a:lnSpc>
                <a:spcPct val="100000"/>
              </a:lnSpc>
              <a:tabLst>
                <a:tab algn="l" pos="0"/>
              </a:tabLst>
            </a:pPr>
            <a:endParaRPr b="0" lang="en-US" sz="1400" spc="-1" strike="sngStrike">
              <a:solidFill>
                <a:srgbClr val="000000"/>
              </a:solidFill>
              <a:latin typeface="Arial"/>
            </a:endParaRPr>
          </a:p>
        </p:txBody>
      </p:sp>
      <p:sp>
        <p:nvSpPr>
          <p:cNvPr id="124" name="Google Shape;144;p15"/>
          <p:cNvSpPr/>
          <p:nvPr/>
        </p:nvSpPr>
        <p:spPr>
          <a:xfrm>
            <a:off x="914400" y="9321840"/>
            <a:ext cx="9143640" cy="18360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0" lang="en-US" sz="1200" spc="-1" strike="noStrike">
                <a:solidFill>
                  <a:srgbClr val="5c5c5c"/>
                </a:solidFill>
                <a:latin typeface="JetBrains Mono"/>
                <a:ea typeface="JetBrains Mono"/>
              </a:rPr>
              <a:t>© 2026 HackMeridian · Lisbon  ·  #HackMeridian26</a:t>
            </a:r>
            <a:endParaRPr b="0" lang="en-US" sz="1200" spc="-1" strike="sngStrike">
              <a:solidFill>
                <a:srgbClr val="000000"/>
              </a:solidFill>
              <a:latin typeface="Arial"/>
            </a:endParaRPr>
          </a:p>
        </p:txBody>
      </p:sp>
      <p:pic>
        <p:nvPicPr>
          <p:cNvPr id="125" name="Google Shape;145;p15" descr="hm-black.png"/>
          <p:cNvPicPr/>
          <p:nvPr/>
        </p:nvPicPr>
        <p:blipFill>
          <a:blip r:embed="rId1"/>
          <a:stretch/>
        </p:blipFill>
        <p:spPr>
          <a:xfrm>
            <a:off x="14859000" y="9171360"/>
            <a:ext cx="2517480" cy="438480"/>
          </a:xfrm>
          <a:prstGeom prst="rect">
            <a:avLst/>
          </a:prstGeom>
          <a:ln w="0">
            <a:noFill/>
          </a:ln>
        </p:spPr>
      </p:pic>
      <p:pic>
        <p:nvPicPr>
          <p:cNvPr id="126" name="" descr=""/>
          <p:cNvPicPr/>
          <p:nvPr/>
        </p:nvPicPr>
        <p:blipFill>
          <a:blip r:embed="rId2"/>
          <a:stretch/>
        </p:blipFill>
        <p:spPr>
          <a:xfrm>
            <a:off x="13716000" y="2005200"/>
            <a:ext cx="3024000" cy="3024000"/>
          </a:xfrm>
          <a:prstGeom prst="rect">
            <a:avLst/>
          </a:prstGeom>
          <a:ln w="0">
            <a:noFill/>
          </a:ln>
        </p:spPr>
      </p:pic>
      <p:sp>
        <p:nvSpPr>
          <p:cNvPr id="127" name="Google Shape;135;p 1"/>
          <p:cNvSpPr/>
          <p:nvPr/>
        </p:nvSpPr>
        <p:spPr>
          <a:xfrm>
            <a:off x="3475080" y="8458200"/>
            <a:ext cx="14812920" cy="244080"/>
          </a:xfrm>
          <a:prstGeom prst="rect">
            <a:avLst/>
          </a:prstGeom>
          <a:noFill/>
          <a:ln w="0">
            <a:noFill/>
          </a:ln>
        </p:spPr>
        <p:style>
          <a:lnRef idx="0"/>
          <a:fillRef idx="0"/>
          <a:effectRef idx="0"/>
          <a:fontRef idx="minor"/>
        </p:style>
        <p:txBody>
          <a:bodyPr lIns="0" rIns="0" tIns="0" bIns="0" anchor="t">
            <a:spAutoFit/>
          </a:bodyPr>
          <a:p>
            <a:pPr marL="411480" indent="-411480">
              <a:lnSpc>
                <a:spcPct val="100000"/>
              </a:lnSpc>
              <a:buClr>
                <a:srgbClr val="0f0f0f"/>
              </a:buClr>
              <a:buFont typeface="Arial"/>
              <a:buChar char="►"/>
            </a:pPr>
            <a:r>
              <a:rPr b="0" lang="en-US" sz="1600" spc="-1" strike="noStrike">
                <a:solidFill>
                  <a:srgbClr val="2a2a2a"/>
                </a:solidFill>
                <a:latin typeface="Instrument Sans"/>
                <a:ea typeface="Instrument Sans"/>
              </a:rPr>
              <a:t>*</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T</a:t>
            </a:r>
            <a:r>
              <a:rPr b="0" lang="en-US" sz="1600" spc="-1" strike="noStrike">
                <a:solidFill>
                  <a:srgbClr val="2a2a2a"/>
                </a:solidFill>
                <a:latin typeface="Instrument Sans"/>
                <a:ea typeface="Instrument Sans"/>
              </a:rPr>
              <a:t>e</a:t>
            </a:r>
            <a:r>
              <a:rPr b="0" lang="en-US" sz="1600" spc="-1" strike="noStrike">
                <a:solidFill>
                  <a:srgbClr val="2a2a2a"/>
                </a:solidFill>
                <a:latin typeface="Instrument Sans"/>
                <a:ea typeface="Instrument Sans"/>
              </a:rPr>
              <a:t>s</a:t>
            </a:r>
            <a:r>
              <a:rPr b="0" lang="en-US" sz="1600" spc="-1" strike="noStrike">
                <a:solidFill>
                  <a:srgbClr val="2a2a2a"/>
                </a:solidFill>
                <a:latin typeface="Instrument Sans"/>
                <a:ea typeface="Instrument Sans"/>
              </a:rPr>
              <a:t>t</a:t>
            </a:r>
            <a:r>
              <a:rPr b="0" lang="en-US" sz="1600" spc="-1" strike="noStrike">
                <a:solidFill>
                  <a:srgbClr val="2a2a2a"/>
                </a:solidFill>
                <a:latin typeface="Instrument Sans"/>
                <a:ea typeface="Instrument Sans"/>
              </a:rPr>
              <a:t>n</a:t>
            </a:r>
            <a:r>
              <a:rPr b="0" lang="en-US" sz="1600" spc="-1" strike="noStrike">
                <a:solidFill>
                  <a:srgbClr val="2a2a2a"/>
                </a:solidFill>
                <a:latin typeface="Instrument Sans"/>
                <a:ea typeface="Instrument Sans"/>
              </a:rPr>
              <a:t>e</a:t>
            </a:r>
            <a:r>
              <a:rPr b="0" lang="en-US" sz="1600" spc="-1" strike="noStrike">
                <a:solidFill>
                  <a:srgbClr val="2a2a2a"/>
                </a:solidFill>
                <a:latin typeface="Instrument Sans"/>
                <a:ea typeface="Instrument Sans"/>
              </a:rPr>
              <a:t>t</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d</a:t>
            </a:r>
            <a:r>
              <a:rPr b="0" lang="en-US" sz="1600" spc="-1" strike="noStrike">
                <a:solidFill>
                  <a:srgbClr val="2a2a2a"/>
                </a:solidFill>
                <a:latin typeface="Instrument Sans"/>
                <a:ea typeface="Instrument Sans"/>
              </a:rPr>
              <a:t>e</a:t>
            </a:r>
            <a:r>
              <a:rPr b="0" lang="en-US" sz="1600" spc="-1" strike="noStrike">
                <a:solidFill>
                  <a:srgbClr val="2a2a2a"/>
                </a:solidFill>
                <a:latin typeface="Instrument Sans"/>
                <a:ea typeface="Instrument Sans"/>
              </a:rPr>
              <a:t>m</a:t>
            </a:r>
            <a:r>
              <a:rPr b="0" lang="en-US" sz="1600" spc="-1" strike="noStrike">
                <a:solidFill>
                  <a:srgbClr val="2a2a2a"/>
                </a:solidFill>
                <a:latin typeface="Instrument Sans"/>
                <a:ea typeface="Instrument Sans"/>
              </a:rPr>
              <a:t>o</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i</a:t>
            </a:r>
            <a:r>
              <a:rPr b="0" lang="en-US" sz="1600" spc="-1" strike="noStrike">
                <a:solidFill>
                  <a:srgbClr val="2a2a2a"/>
                </a:solidFill>
                <a:latin typeface="Instrument Sans"/>
                <a:ea typeface="Instrument Sans"/>
              </a:rPr>
              <a:t>m</a:t>
            </a:r>
            <a:r>
              <a:rPr b="0" lang="en-US" sz="1600" spc="-1" strike="noStrike">
                <a:solidFill>
                  <a:srgbClr val="2a2a2a"/>
                </a:solidFill>
                <a:latin typeface="Instrument Sans"/>
                <a:ea typeface="Instrument Sans"/>
              </a:rPr>
              <a:t>p</a:t>
            </a:r>
            <a:r>
              <a:rPr b="0" lang="en-US" sz="1600" spc="-1" strike="noStrike">
                <a:solidFill>
                  <a:srgbClr val="2a2a2a"/>
                </a:solidFill>
                <a:latin typeface="Instrument Sans"/>
                <a:ea typeface="Instrument Sans"/>
              </a:rPr>
              <a:t>l</a:t>
            </a:r>
            <a:r>
              <a:rPr b="0" lang="en-US" sz="1600" spc="-1" strike="noStrike">
                <a:solidFill>
                  <a:srgbClr val="2a2a2a"/>
                </a:solidFill>
                <a:latin typeface="Instrument Sans"/>
                <a:ea typeface="Instrument Sans"/>
              </a:rPr>
              <a:t>e</a:t>
            </a:r>
            <a:r>
              <a:rPr b="0" lang="en-US" sz="1600" spc="-1" strike="noStrike">
                <a:solidFill>
                  <a:srgbClr val="2a2a2a"/>
                </a:solidFill>
                <a:latin typeface="Instrument Sans"/>
                <a:ea typeface="Instrument Sans"/>
              </a:rPr>
              <a:t>m</a:t>
            </a:r>
            <a:r>
              <a:rPr b="0" lang="en-US" sz="1600" spc="-1" strike="noStrike">
                <a:solidFill>
                  <a:srgbClr val="2a2a2a"/>
                </a:solidFill>
                <a:latin typeface="Instrument Sans"/>
                <a:ea typeface="Instrument Sans"/>
              </a:rPr>
              <a:t>e</a:t>
            </a:r>
            <a:r>
              <a:rPr b="0" lang="en-US" sz="1600" spc="-1" strike="noStrike">
                <a:solidFill>
                  <a:srgbClr val="2a2a2a"/>
                </a:solidFill>
                <a:latin typeface="Instrument Sans"/>
                <a:ea typeface="Instrument Sans"/>
              </a:rPr>
              <a:t>n</a:t>
            </a:r>
            <a:r>
              <a:rPr b="0" lang="en-US" sz="1600" spc="-1" strike="noStrike">
                <a:solidFill>
                  <a:srgbClr val="2a2a2a"/>
                </a:solidFill>
                <a:latin typeface="Instrument Sans"/>
                <a:ea typeface="Instrument Sans"/>
              </a:rPr>
              <a:t>t</a:t>
            </a:r>
            <a:r>
              <a:rPr b="0" lang="en-US" sz="1600" spc="-1" strike="noStrike">
                <a:solidFill>
                  <a:srgbClr val="2a2a2a"/>
                </a:solidFill>
                <a:latin typeface="Instrument Sans"/>
                <a:ea typeface="Instrument Sans"/>
              </a:rPr>
              <a:t>a</a:t>
            </a:r>
            <a:r>
              <a:rPr b="0" lang="en-US" sz="1600" spc="-1" strike="noStrike">
                <a:solidFill>
                  <a:srgbClr val="2a2a2a"/>
                </a:solidFill>
                <a:latin typeface="Instrument Sans"/>
                <a:ea typeface="Instrument Sans"/>
              </a:rPr>
              <a:t>t</a:t>
            </a:r>
            <a:r>
              <a:rPr b="0" lang="en-US" sz="1600" spc="-1" strike="noStrike">
                <a:solidFill>
                  <a:srgbClr val="2a2a2a"/>
                </a:solidFill>
                <a:latin typeface="Instrument Sans"/>
                <a:ea typeface="Instrument Sans"/>
              </a:rPr>
              <a:t>i</a:t>
            </a:r>
            <a:r>
              <a:rPr b="0" lang="en-US" sz="1600" spc="-1" strike="noStrike">
                <a:solidFill>
                  <a:srgbClr val="2a2a2a"/>
                </a:solidFill>
                <a:latin typeface="Instrument Sans"/>
                <a:ea typeface="Instrument Sans"/>
              </a:rPr>
              <a:t>o</a:t>
            </a:r>
            <a:r>
              <a:rPr b="0" lang="en-US" sz="1600" spc="-1" strike="noStrike">
                <a:solidFill>
                  <a:srgbClr val="2a2a2a"/>
                </a:solidFill>
                <a:latin typeface="Instrument Sans"/>
                <a:ea typeface="Instrument Sans"/>
              </a:rPr>
              <a:t>n</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o</a:t>
            </a:r>
            <a:r>
              <a:rPr b="0" lang="en-US" sz="1600" spc="-1" strike="noStrike">
                <a:solidFill>
                  <a:srgbClr val="2a2a2a"/>
                </a:solidFill>
                <a:latin typeface="Instrument Sans"/>
                <a:ea typeface="Instrument Sans"/>
              </a:rPr>
              <a:t>n</a:t>
            </a:r>
            <a:r>
              <a:rPr b="0" lang="en-US" sz="1600" spc="-1" strike="noStrike">
                <a:solidFill>
                  <a:srgbClr val="2a2a2a"/>
                </a:solidFill>
                <a:latin typeface="Instrument Sans"/>
                <a:ea typeface="Instrument Sans"/>
              </a:rPr>
              <a:t>l</a:t>
            </a:r>
            <a:r>
              <a:rPr b="0" lang="en-US" sz="1600" spc="-1" strike="noStrike">
                <a:solidFill>
                  <a:srgbClr val="2a2a2a"/>
                </a:solidFill>
                <a:latin typeface="Instrument Sans"/>
                <a:ea typeface="Instrument Sans"/>
              </a:rPr>
              <a:t>y</a:t>
            </a:r>
            <a:r>
              <a:rPr b="0" lang="en-US" sz="1600" spc="-1" strike="noStrike">
                <a:solidFill>
                  <a:srgbClr val="2a2a2a"/>
                </a:solidFill>
                <a:latin typeface="Instrument Sans"/>
                <a:ea typeface="Instrument Sans"/>
              </a:rPr>
              <a:t>.</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D</a:t>
            </a:r>
            <a:r>
              <a:rPr b="0" lang="en-US" sz="1600" spc="-1" strike="noStrike">
                <a:solidFill>
                  <a:srgbClr val="2a2a2a"/>
                </a:solidFill>
                <a:latin typeface="Instrument Sans"/>
                <a:ea typeface="Instrument Sans"/>
              </a:rPr>
              <a:t>o</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n</a:t>
            </a:r>
            <a:r>
              <a:rPr b="0" lang="en-US" sz="1600" spc="-1" strike="noStrike">
                <a:solidFill>
                  <a:srgbClr val="2a2a2a"/>
                </a:solidFill>
                <a:latin typeface="Instrument Sans"/>
                <a:ea typeface="Instrument Sans"/>
              </a:rPr>
              <a:t>o</a:t>
            </a:r>
            <a:r>
              <a:rPr b="0" lang="en-US" sz="1600" spc="-1" strike="noStrike">
                <a:solidFill>
                  <a:srgbClr val="2a2a2a"/>
                </a:solidFill>
                <a:latin typeface="Instrument Sans"/>
                <a:ea typeface="Instrument Sans"/>
              </a:rPr>
              <a:t>t</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u</a:t>
            </a:r>
            <a:r>
              <a:rPr b="0" lang="en-US" sz="1600" spc="-1" strike="noStrike">
                <a:solidFill>
                  <a:srgbClr val="2a2a2a"/>
                </a:solidFill>
                <a:latin typeface="Instrument Sans"/>
                <a:ea typeface="Instrument Sans"/>
              </a:rPr>
              <a:t>s</a:t>
            </a:r>
            <a:r>
              <a:rPr b="0" lang="en-US" sz="1600" spc="-1" strike="noStrike">
                <a:solidFill>
                  <a:srgbClr val="2a2a2a"/>
                </a:solidFill>
                <a:latin typeface="Instrument Sans"/>
                <a:ea typeface="Instrument Sans"/>
              </a:rPr>
              <a:t>e</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o</a:t>
            </a:r>
            <a:r>
              <a:rPr b="0" lang="en-US" sz="1600" spc="-1" strike="noStrike">
                <a:solidFill>
                  <a:srgbClr val="2a2a2a"/>
                </a:solidFill>
                <a:latin typeface="Instrument Sans"/>
                <a:ea typeface="Instrument Sans"/>
              </a:rPr>
              <a:t>n</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m</a:t>
            </a:r>
            <a:r>
              <a:rPr b="0" lang="en-US" sz="1600" spc="-1" strike="noStrike">
                <a:solidFill>
                  <a:srgbClr val="2a2a2a"/>
                </a:solidFill>
                <a:latin typeface="Instrument Sans"/>
                <a:ea typeface="Instrument Sans"/>
              </a:rPr>
              <a:t>a</a:t>
            </a:r>
            <a:r>
              <a:rPr b="0" lang="en-US" sz="1600" spc="-1" strike="noStrike">
                <a:solidFill>
                  <a:srgbClr val="2a2a2a"/>
                </a:solidFill>
                <a:latin typeface="Instrument Sans"/>
                <a:ea typeface="Instrument Sans"/>
              </a:rPr>
              <a:t>i</a:t>
            </a:r>
            <a:r>
              <a:rPr b="0" lang="en-US" sz="1600" spc="-1" strike="noStrike">
                <a:solidFill>
                  <a:srgbClr val="2a2a2a"/>
                </a:solidFill>
                <a:latin typeface="Instrument Sans"/>
                <a:ea typeface="Instrument Sans"/>
              </a:rPr>
              <a:t>n</a:t>
            </a:r>
            <a:r>
              <a:rPr b="0" lang="en-US" sz="1600" spc="-1" strike="noStrike">
                <a:solidFill>
                  <a:srgbClr val="2a2a2a"/>
                </a:solidFill>
                <a:latin typeface="Instrument Sans"/>
                <a:ea typeface="Instrument Sans"/>
              </a:rPr>
              <a:t>n</a:t>
            </a:r>
            <a:r>
              <a:rPr b="0" lang="en-US" sz="1600" spc="-1" strike="noStrike">
                <a:solidFill>
                  <a:srgbClr val="2a2a2a"/>
                </a:solidFill>
                <a:latin typeface="Instrument Sans"/>
                <a:ea typeface="Instrument Sans"/>
              </a:rPr>
              <a:t>e</a:t>
            </a:r>
            <a:r>
              <a:rPr b="0" lang="en-US" sz="1600" spc="-1" strike="noStrike">
                <a:solidFill>
                  <a:srgbClr val="2a2a2a"/>
                </a:solidFill>
                <a:latin typeface="Instrument Sans"/>
                <a:ea typeface="Instrument Sans"/>
              </a:rPr>
              <a:t>t</a:t>
            </a:r>
            <a:r>
              <a:rPr b="0" lang="en-US" sz="1600" spc="-1" strike="noStrike">
                <a:solidFill>
                  <a:srgbClr val="2a2a2a"/>
                </a:solidFill>
                <a:latin typeface="Instrument Sans"/>
                <a:ea typeface="Instrument Sans"/>
              </a:rPr>
              <a:t>.</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D</a:t>
            </a:r>
            <a:r>
              <a:rPr b="0" lang="en-US" sz="1600" spc="-1" strike="noStrike">
                <a:solidFill>
                  <a:srgbClr val="2a2a2a"/>
                </a:solidFill>
                <a:latin typeface="Instrument Sans"/>
                <a:ea typeface="Instrument Sans"/>
              </a:rPr>
              <a:t>o</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n</a:t>
            </a:r>
            <a:r>
              <a:rPr b="0" lang="en-US" sz="1600" spc="-1" strike="noStrike">
                <a:solidFill>
                  <a:srgbClr val="2a2a2a"/>
                </a:solidFill>
                <a:latin typeface="Instrument Sans"/>
                <a:ea typeface="Instrument Sans"/>
              </a:rPr>
              <a:t>o</a:t>
            </a:r>
            <a:r>
              <a:rPr b="0" lang="en-US" sz="1600" spc="-1" strike="noStrike">
                <a:solidFill>
                  <a:srgbClr val="2a2a2a"/>
                </a:solidFill>
                <a:latin typeface="Instrument Sans"/>
                <a:ea typeface="Instrument Sans"/>
              </a:rPr>
              <a:t>t</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u</a:t>
            </a:r>
            <a:r>
              <a:rPr b="0" lang="en-US" sz="1600" spc="-1" strike="noStrike">
                <a:solidFill>
                  <a:srgbClr val="2a2a2a"/>
                </a:solidFill>
                <a:latin typeface="Instrument Sans"/>
                <a:ea typeface="Instrument Sans"/>
              </a:rPr>
              <a:t>s</a:t>
            </a:r>
            <a:r>
              <a:rPr b="0" lang="en-US" sz="1600" spc="-1" strike="noStrike">
                <a:solidFill>
                  <a:srgbClr val="2a2a2a"/>
                </a:solidFill>
                <a:latin typeface="Instrument Sans"/>
                <a:ea typeface="Instrument Sans"/>
              </a:rPr>
              <a:t>e</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w</a:t>
            </a:r>
            <a:r>
              <a:rPr b="0" lang="en-US" sz="1600" spc="-1" strike="noStrike">
                <a:solidFill>
                  <a:srgbClr val="2a2a2a"/>
                </a:solidFill>
                <a:latin typeface="Instrument Sans"/>
                <a:ea typeface="Instrument Sans"/>
              </a:rPr>
              <a:t>i</a:t>
            </a:r>
            <a:r>
              <a:rPr b="0" lang="en-US" sz="1600" spc="-1" strike="noStrike">
                <a:solidFill>
                  <a:srgbClr val="2a2a2a"/>
                </a:solidFill>
                <a:latin typeface="Instrument Sans"/>
                <a:ea typeface="Instrument Sans"/>
              </a:rPr>
              <a:t>t</a:t>
            </a:r>
            <a:r>
              <a:rPr b="0" lang="en-US" sz="1600" spc="-1" strike="noStrike">
                <a:solidFill>
                  <a:srgbClr val="2a2a2a"/>
                </a:solidFill>
                <a:latin typeface="Instrument Sans"/>
                <a:ea typeface="Instrument Sans"/>
              </a:rPr>
              <a:t>h</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r</a:t>
            </a:r>
            <a:r>
              <a:rPr b="0" lang="en-US" sz="1600" spc="-1" strike="noStrike">
                <a:solidFill>
                  <a:srgbClr val="2a2a2a"/>
                </a:solidFill>
                <a:latin typeface="Instrument Sans"/>
                <a:ea typeface="Instrument Sans"/>
              </a:rPr>
              <a:t>e</a:t>
            </a:r>
            <a:r>
              <a:rPr b="0" lang="en-US" sz="1600" spc="-1" strike="noStrike">
                <a:solidFill>
                  <a:srgbClr val="2a2a2a"/>
                </a:solidFill>
                <a:latin typeface="Instrument Sans"/>
                <a:ea typeface="Instrument Sans"/>
              </a:rPr>
              <a:t>a</a:t>
            </a:r>
            <a:r>
              <a:rPr b="0" lang="en-US" sz="1600" spc="-1" strike="noStrike">
                <a:solidFill>
                  <a:srgbClr val="2a2a2a"/>
                </a:solidFill>
                <a:latin typeface="Instrument Sans"/>
                <a:ea typeface="Instrument Sans"/>
              </a:rPr>
              <a:t>l</a:t>
            </a:r>
            <a:r>
              <a:rPr b="0" lang="en-US" sz="1600" spc="-1" strike="noStrike">
                <a:solidFill>
                  <a:srgbClr val="2a2a2a"/>
                </a:solidFill>
                <a:latin typeface="Instrument Sans"/>
                <a:ea typeface="Instrument Sans"/>
              </a:rPr>
              <a:t> </a:t>
            </a:r>
            <a:r>
              <a:rPr b="0" lang="en-US" sz="1600" spc="-1" strike="noStrike">
                <a:solidFill>
                  <a:srgbClr val="2a2a2a"/>
                </a:solidFill>
                <a:latin typeface="Instrument Sans"/>
                <a:ea typeface="Instrument Sans"/>
              </a:rPr>
              <a:t>f</a:t>
            </a:r>
            <a:r>
              <a:rPr b="0" lang="en-US" sz="1600" spc="-1" strike="noStrike">
                <a:solidFill>
                  <a:srgbClr val="2a2a2a"/>
                </a:solidFill>
                <a:latin typeface="Instrument Sans"/>
                <a:ea typeface="Instrument Sans"/>
              </a:rPr>
              <a:t>u</a:t>
            </a:r>
            <a:r>
              <a:rPr b="0" lang="en-US" sz="1600" spc="-1" strike="noStrike">
                <a:solidFill>
                  <a:srgbClr val="2a2a2a"/>
                </a:solidFill>
                <a:latin typeface="Instrument Sans"/>
                <a:ea typeface="Instrument Sans"/>
              </a:rPr>
              <a:t>n</a:t>
            </a:r>
            <a:r>
              <a:rPr b="0" lang="en-US" sz="1600" spc="-1" strike="noStrike">
                <a:solidFill>
                  <a:srgbClr val="2a2a2a"/>
                </a:solidFill>
                <a:latin typeface="Instrument Sans"/>
                <a:ea typeface="Instrument Sans"/>
              </a:rPr>
              <a:t>d</a:t>
            </a:r>
            <a:r>
              <a:rPr b="0" lang="en-US" sz="1600" spc="-1" strike="noStrike">
                <a:solidFill>
                  <a:srgbClr val="2a2a2a"/>
                </a:solidFill>
                <a:latin typeface="Instrument Sans"/>
                <a:ea typeface="Instrument Sans"/>
              </a:rPr>
              <a:t>s</a:t>
            </a:r>
            <a:endParaRPr b="0" lang="en-US" sz="1600" spc="-1" strike="sng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128" name="Google Shape;150;p16"/>
          <p:cNvSpPr/>
          <p:nvPr/>
        </p:nvSpPr>
        <p:spPr>
          <a:xfrm>
            <a:off x="0" y="0"/>
            <a:ext cx="18287640" cy="731160"/>
          </a:xfrm>
          <a:prstGeom prst="rect">
            <a:avLst/>
          </a:prstGeom>
          <a:solidFill>
            <a:srgbClr val="0f0f0f"/>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29" name="Google Shape;151;p16"/>
          <p:cNvSpPr/>
          <p:nvPr/>
        </p:nvSpPr>
        <p:spPr>
          <a:xfrm>
            <a:off x="914400" y="258480"/>
            <a:ext cx="4571640" cy="21420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1400" spc="-1" strike="noStrike">
                <a:solidFill>
                  <a:srgbClr val="fdda24"/>
                </a:solidFill>
                <a:latin typeface="JetBrains Mono"/>
                <a:ea typeface="JetBrains Mono"/>
              </a:rPr>
              <a:t>PLATFORM 04 / 05</a:t>
            </a:r>
            <a:endParaRPr b="0" lang="en-US" sz="1400" spc="-1" strike="sngStrike">
              <a:solidFill>
                <a:srgbClr val="000000"/>
              </a:solidFill>
              <a:latin typeface="Arial"/>
            </a:endParaRPr>
          </a:p>
        </p:txBody>
      </p:sp>
      <p:sp>
        <p:nvSpPr>
          <p:cNvPr id="130" name="Google Shape;152;p16"/>
          <p:cNvSpPr/>
          <p:nvPr/>
        </p:nvSpPr>
        <p:spPr>
          <a:xfrm>
            <a:off x="5486400" y="258480"/>
            <a:ext cx="7314840" cy="21420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Lst>
            </a:pPr>
            <a:r>
              <a:rPr b="1" lang="en-US" sz="1400" spc="-1" strike="noStrike">
                <a:solidFill>
                  <a:srgbClr val="ffffff"/>
                </a:solidFill>
                <a:latin typeface="JetBrains Mono"/>
                <a:ea typeface="JetBrains Mono"/>
              </a:rPr>
              <a:t>HACKMERIDIAN 2026 · LISBON</a:t>
            </a:r>
            <a:endParaRPr b="0" lang="en-US" sz="1400" spc="-1" strike="sngStrike">
              <a:solidFill>
                <a:srgbClr val="000000"/>
              </a:solidFill>
              <a:latin typeface="Arial"/>
            </a:endParaRPr>
          </a:p>
        </p:txBody>
      </p:sp>
      <p:sp>
        <p:nvSpPr>
          <p:cNvPr id="131" name="Google Shape;153;p16"/>
          <p:cNvSpPr/>
          <p:nvPr/>
        </p:nvSpPr>
        <p:spPr>
          <a:xfrm>
            <a:off x="12801600" y="258480"/>
            <a:ext cx="4571640" cy="214200"/>
          </a:xfrm>
          <a:prstGeom prst="rect">
            <a:avLst/>
          </a:prstGeom>
          <a:noFill/>
          <a:ln w="0">
            <a:noFill/>
          </a:ln>
        </p:spPr>
        <p:style>
          <a:lnRef idx="0"/>
          <a:fillRef idx="0"/>
          <a:effectRef idx="0"/>
          <a:fontRef idx="minor"/>
        </p:style>
        <p:txBody>
          <a:bodyPr lIns="0" rIns="0" tIns="0" bIns="0" anchor="ctr">
            <a:spAutoFit/>
          </a:bodyPr>
          <a:p>
            <a:pPr algn="r">
              <a:lnSpc>
                <a:spcPct val="100000"/>
              </a:lnSpc>
              <a:tabLst>
                <a:tab algn="l" pos="0"/>
              </a:tabLst>
            </a:pPr>
            <a:r>
              <a:rPr b="1" lang="en-US" sz="1400" spc="-1" strike="noStrike">
                <a:solidFill>
                  <a:srgbClr val="ffffff"/>
                </a:solidFill>
                <a:latin typeface="JetBrains Mono"/>
                <a:ea typeface="JetBrains Mono"/>
              </a:rPr>
              <a:t>NEXT ▸ THE TEAM</a:t>
            </a:r>
            <a:endParaRPr b="0" lang="en-US" sz="1400" spc="-1" strike="sngStrike">
              <a:solidFill>
                <a:srgbClr val="000000"/>
              </a:solidFill>
              <a:latin typeface="Arial"/>
            </a:endParaRPr>
          </a:p>
        </p:txBody>
      </p:sp>
      <p:sp>
        <p:nvSpPr>
          <p:cNvPr id="132" name="Google Shape;154;p16"/>
          <p:cNvSpPr/>
          <p:nvPr/>
        </p:nvSpPr>
        <p:spPr>
          <a:xfrm>
            <a:off x="914400" y="1417320"/>
            <a:ext cx="2651400" cy="475200"/>
          </a:xfrm>
          <a:prstGeom prst="roundRect">
            <a:avLst>
              <a:gd name="adj" fmla="val 50000"/>
            </a:avLst>
          </a:prstGeom>
          <a:solidFill>
            <a:srgbClr val="fdda24"/>
          </a:solid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200" spc="-1" strike="noStrike">
                <a:solidFill>
                  <a:srgbClr val="0f0f0f"/>
                </a:solidFill>
                <a:latin typeface="JetBrains Mono"/>
                <a:ea typeface="JetBrains Mono"/>
              </a:rPr>
              <a:t>PITCH STEP 03 / 04</a:t>
            </a:r>
            <a:endParaRPr b="0" lang="en-US" sz="1200" spc="-1" strike="sngStrike">
              <a:solidFill>
                <a:srgbClr val="000000"/>
              </a:solidFill>
              <a:latin typeface="Arial"/>
            </a:endParaRPr>
          </a:p>
        </p:txBody>
      </p:sp>
      <p:sp>
        <p:nvSpPr>
          <p:cNvPr id="133" name="Google Shape;155;p16"/>
          <p:cNvSpPr/>
          <p:nvPr/>
        </p:nvSpPr>
        <p:spPr>
          <a:xfrm>
            <a:off x="914400" y="2103120"/>
            <a:ext cx="16458840" cy="15238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10000" spc="-1" strike="noStrike">
                <a:solidFill>
                  <a:srgbClr val="0f0f0f"/>
                </a:solidFill>
                <a:latin typeface="Inter Tight"/>
                <a:ea typeface="Inter Tight"/>
              </a:rPr>
              <a:t>TECHNICAL WORKFLOW</a:t>
            </a:r>
            <a:endParaRPr b="0" lang="en-US" sz="10000" spc="-1" strike="sngStrike">
              <a:solidFill>
                <a:srgbClr val="000000"/>
              </a:solidFill>
              <a:latin typeface="Arial"/>
            </a:endParaRPr>
          </a:p>
        </p:txBody>
      </p:sp>
      <p:sp>
        <p:nvSpPr>
          <p:cNvPr id="134" name="Google Shape;156;p16"/>
          <p:cNvSpPr/>
          <p:nvPr/>
        </p:nvSpPr>
        <p:spPr>
          <a:xfrm>
            <a:off x="914400" y="3931920"/>
            <a:ext cx="1097244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2800" spc="-1" strike="noStrike">
                <a:solidFill>
                  <a:srgbClr val="0f0f0f"/>
                </a:solidFill>
                <a:latin typeface="Instrument Sans"/>
                <a:ea typeface="Instrument Sans"/>
              </a:rPr>
              <a:t>Under the hood</a:t>
            </a:r>
            <a:endParaRPr b="0" lang="en-US" sz="2800" spc="-1" strike="sngStrike">
              <a:solidFill>
                <a:srgbClr val="000000"/>
              </a:solidFill>
              <a:latin typeface="Arial"/>
            </a:endParaRPr>
          </a:p>
        </p:txBody>
      </p:sp>
      <p:sp>
        <p:nvSpPr>
          <p:cNvPr id="135" name="Google Shape;157;p16"/>
          <p:cNvSpPr/>
          <p:nvPr/>
        </p:nvSpPr>
        <p:spPr>
          <a:xfrm>
            <a:off x="914400" y="4709160"/>
            <a:ext cx="11612520" cy="2575440"/>
          </a:xfrm>
          <a:prstGeom prst="rect">
            <a:avLst/>
          </a:prstGeom>
          <a:noFill/>
          <a:ln w="0">
            <a:noFill/>
          </a:ln>
        </p:spPr>
        <p:style>
          <a:lnRef idx="0"/>
          <a:fillRef idx="0"/>
          <a:effectRef idx="0"/>
          <a:fontRef idx="minor"/>
        </p:style>
        <p:txBody>
          <a:bodyPr lIns="0" rIns="0" tIns="0" bIns="0" anchor="t">
            <a:spAutoFit/>
          </a:bodyPr>
          <a:p>
            <a:pPr marL="411480" indent="-411480">
              <a:lnSpc>
                <a:spcPct val="100000"/>
              </a:lnSpc>
              <a:buClr>
                <a:srgbClr val="0f0f0f"/>
              </a:buClr>
              <a:buFont typeface="Arial"/>
              <a:buChar char="►"/>
            </a:pPr>
            <a:r>
              <a:rPr b="0" lang="en-US" sz="2400" spc="-1" strike="noStrike">
                <a:solidFill>
                  <a:srgbClr val="2a2a2a"/>
                </a:solidFill>
                <a:latin typeface="Instrument Sans"/>
                <a:ea typeface="Instrument Sans"/>
              </a:rPr>
              <a:t>Create a smart account, with your G.. account as master signer</a:t>
            </a:r>
            <a:endParaRPr b="0" lang="en-US" sz="2400" spc="-1" strike="sngStrike">
              <a:solidFill>
                <a:srgbClr val="000000"/>
              </a:solidFill>
              <a:latin typeface="Arial"/>
            </a:endParaRPr>
          </a:p>
          <a:p>
            <a:pPr marL="411480" indent="-411480">
              <a:lnSpc>
                <a:spcPct val="100000"/>
              </a:lnSpc>
              <a:spcBef>
                <a:spcPts val="1001"/>
              </a:spcBef>
              <a:buClr>
                <a:srgbClr val="0f0f0f"/>
              </a:buClr>
              <a:buFont typeface="Arial"/>
              <a:buChar char="►"/>
            </a:pPr>
            <a:r>
              <a:rPr b="0" lang="en-US" sz="2400" spc="-1" strike="noStrike">
                <a:solidFill>
                  <a:srgbClr val="2a2a2a"/>
                </a:solidFill>
                <a:latin typeface="Instrument Sans"/>
                <a:ea typeface="Instrument Sans"/>
              </a:rPr>
              <a:t>Add passkey signers in policies that are explicit in which contract, function and arguments they can authorise</a:t>
            </a:r>
            <a:endParaRPr b="0" lang="en-US" sz="2400" spc="-1" strike="sngStrike">
              <a:solidFill>
                <a:srgbClr val="000000"/>
              </a:solidFill>
              <a:latin typeface="Arial"/>
            </a:endParaRPr>
          </a:p>
          <a:p>
            <a:pPr marL="411480" indent="-411480">
              <a:lnSpc>
                <a:spcPct val="100000"/>
              </a:lnSpc>
              <a:spcBef>
                <a:spcPts val="1001"/>
              </a:spcBef>
              <a:buClr>
                <a:srgbClr val="0f0f0f"/>
              </a:buClr>
              <a:buFont typeface="Arial"/>
              <a:buChar char="►"/>
            </a:pPr>
            <a:r>
              <a:rPr b="0" lang="en-US" sz="2400" spc="-1" strike="noStrike">
                <a:solidFill>
                  <a:srgbClr val="2a2a2a"/>
                </a:solidFill>
                <a:latin typeface="Instrument Sans"/>
                <a:ea typeface="Instrument Sans"/>
              </a:rPr>
              <a:t>Anything not explicitly allowed still needs the full (hardware) G.. signer </a:t>
            </a:r>
            <a:endParaRPr b="0" lang="en-US" sz="2400" spc="-1" strike="sngStrike">
              <a:solidFill>
                <a:srgbClr val="000000"/>
              </a:solidFill>
              <a:latin typeface="Arial"/>
            </a:endParaRPr>
          </a:p>
          <a:p>
            <a:pPr marL="411480" indent="-411480">
              <a:lnSpc>
                <a:spcPct val="100000"/>
              </a:lnSpc>
              <a:spcBef>
                <a:spcPts val="1001"/>
              </a:spcBef>
              <a:buClr>
                <a:srgbClr val="0f0f0f"/>
              </a:buClr>
              <a:buFont typeface="Arial"/>
              <a:buChar char="►"/>
            </a:pPr>
            <a:r>
              <a:rPr b="0" lang="en-US" sz="2400" spc="-1" strike="noStrike">
                <a:solidFill>
                  <a:srgbClr val="2a2a2a"/>
                </a:solidFill>
                <a:latin typeface="Instrument Sans"/>
                <a:ea typeface="Instrument Sans"/>
              </a:rPr>
              <a:t>(Ab)use wallets signMessage methods until AuthEntries can be signed by hardware-compatible wallets</a:t>
            </a:r>
            <a:endParaRPr b="0" lang="en-US" sz="2400" spc="-1" strike="sngStrike">
              <a:solidFill>
                <a:srgbClr val="000000"/>
              </a:solidFill>
              <a:latin typeface="Arial"/>
            </a:endParaRPr>
          </a:p>
        </p:txBody>
      </p:sp>
      <p:sp>
        <p:nvSpPr>
          <p:cNvPr id="136" name="Google Shape;159;p16"/>
          <p:cNvSpPr/>
          <p:nvPr/>
        </p:nvSpPr>
        <p:spPr>
          <a:xfrm>
            <a:off x="12893040" y="4023360"/>
            <a:ext cx="4480200" cy="2597400"/>
          </a:xfrm>
          <a:custGeom>
            <a:avLst/>
            <a:gdLst>
              <a:gd name="textAreaLeft" fmla="*/ 0 w 4480200"/>
              <a:gd name="textAreaRight" fmla="*/ 4480560 w 4480200"/>
              <a:gd name="textAreaTop" fmla="*/ 0 h 2597400"/>
              <a:gd name="textAreaBottom" fmla="*/ 2597760 h 2597400"/>
            </a:gdLst>
            <a:ahLst/>
            <a:rect l="textAreaLeft" t="textAreaTop" r="textAreaRight" b="textAreaBottom"/>
            <a:pathLst>
              <a:path w="4480560" h="2597771">
                <a:moveTo>
                  <a:pt x="0" y="0"/>
                </a:moveTo>
                <a:lnTo>
                  <a:pt x="0" y="1000976"/>
                </a:lnTo>
                <a:lnTo>
                  <a:pt x="2240280" y="2597771"/>
                </a:lnTo>
                <a:lnTo>
                  <a:pt x="4480560" y="1000976"/>
                </a:lnTo>
                <a:lnTo>
                  <a:pt x="4480560" y="0"/>
                </a:lnTo>
                <a:lnTo>
                  <a:pt x="2240280" y="1358467"/>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37" name="Google Shape;160;p16"/>
          <p:cNvSpPr/>
          <p:nvPr/>
        </p:nvSpPr>
        <p:spPr>
          <a:xfrm>
            <a:off x="12893040" y="5882400"/>
            <a:ext cx="1310400" cy="1620360"/>
          </a:xfrm>
          <a:custGeom>
            <a:avLst/>
            <a:gdLst>
              <a:gd name="textAreaLeft" fmla="*/ 0 w 1310400"/>
              <a:gd name="textAreaRight" fmla="*/ 1310760 w 1310400"/>
              <a:gd name="textAreaTop" fmla="*/ 0 h 1620360"/>
              <a:gd name="textAreaBottom" fmla="*/ 1620720 h 1620360"/>
            </a:gdLst>
            <a:ahLst/>
            <a:rect l="textAreaLeft" t="textAreaTop" r="textAreaRight" b="textAreaBottom"/>
            <a:pathLst>
              <a:path w="1310802" h="1620628">
                <a:moveTo>
                  <a:pt x="0" y="0"/>
                </a:moveTo>
                <a:lnTo>
                  <a:pt x="0" y="1620628"/>
                </a:lnTo>
                <a:lnTo>
                  <a:pt x="1310802" y="786482"/>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38" name="Google Shape;161;p16"/>
          <p:cNvSpPr/>
          <p:nvPr/>
        </p:nvSpPr>
        <p:spPr>
          <a:xfrm>
            <a:off x="16062840" y="5882400"/>
            <a:ext cx="1310400" cy="1620360"/>
          </a:xfrm>
          <a:custGeom>
            <a:avLst/>
            <a:gdLst>
              <a:gd name="textAreaLeft" fmla="*/ 0 w 1310400"/>
              <a:gd name="textAreaRight" fmla="*/ 1310760 w 1310400"/>
              <a:gd name="textAreaTop" fmla="*/ 0 h 1620360"/>
              <a:gd name="textAreaBottom" fmla="*/ 1620720 h 1620360"/>
            </a:gdLst>
            <a:ahLst/>
            <a:rect l="textAreaLeft" t="textAreaTop" r="textAreaRight" b="textAreaBottom"/>
            <a:pathLst>
              <a:path w="1310803" h="1620628">
                <a:moveTo>
                  <a:pt x="1310803" y="0"/>
                </a:moveTo>
                <a:lnTo>
                  <a:pt x="1310803" y="1620628"/>
                </a:lnTo>
                <a:lnTo>
                  <a:pt x="0" y="786482"/>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39" name="Google Shape;162;p16"/>
          <p:cNvSpPr/>
          <p:nvPr/>
        </p:nvSpPr>
        <p:spPr>
          <a:xfrm rot="5400000">
            <a:off x="15133680" y="7498080"/>
            <a:ext cx="502560" cy="502560"/>
          </a:xfrm>
          <a:prstGeom prst="triangle">
            <a:avLst>
              <a:gd name="adj" fmla="val 50000"/>
            </a:avLst>
          </a:prstGeom>
          <a:solidFill>
            <a:srgbClr val="fdda24"/>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140" name="Google Shape;163;p16"/>
          <p:cNvSpPr/>
          <p:nvPr/>
        </p:nvSpPr>
        <p:spPr>
          <a:xfrm rot="5400000">
            <a:off x="15611400" y="7498080"/>
            <a:ext cx="502560" cy="502560"/>
          </a:xfrm>
          <a:prstGeom prst="triangle">
            <a:avLst>
              <a:gd name="adj" fmla="val 50000"/>
            </a:avLst>
          </a:prstGeom>
          <a:solidFill>
            <a:srgbClr val="fdda24">
              <a:alpha val="60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141" name="Google Shape;164;p16"/>
          <p:cNvSpPr/>
          <p:nvPr/>
        </p:nvSpPr>
        <p:spPr>
          <a:xfrm rot="5400000">
            <a:off x="16089120" y="7498080"/>
            <a:ext cx="502560" cy="502560"/>
          </a:xfrm>
          <a:prstGeom prst="triangle">
            <a:avLst>
              <a:gd name="adj" fmla="val 50000"/>
            </a:avLst>
          </a:prstGeom>
          <a:solidFill>
            <a:srgbClr val="fdda24">
              <a:alpha val="30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142" name="Google Shape;165;p16"/>
          <p:cNvSpPr/>
          <p:nvPr/>
        </p:nvSpPr>
        <p:spPr>
          <a:xfrm>
            <a:off x="914400" y="8915400"/>
            <a:ext cx="16458840" cy="13320"/>
          </a:xfrm>
          <a:prstGeom prst="rect">
            <a:avLst/>
          </a:prstGeom>
          <a:solidFill>
            <a:srgbClr val="dfddd6"/>
          </a:solidFill>
          <a:ln w="0">
            <a:noFill/>
          </a:ln>
        </p:spPr>
        <p:style>
          <a:lnRef idx="0"/>
          <a:fillRef idx="0"/>
          <a:effectRef idx="0"/>
          <a:fontRef idx="minor"/>
        </p:style>
        <p:txBody>
          <a:bodyPr tIns="6840" bIns="6840" anchor="ctr">
            <a:noAutofit/>
          </a:bodyPr>
          <a:p>
            <a:pPr algn="ctr">
              <a:lnSpc>
                <a:spcPct val="100000"/>
              </a:lnSpc>
              <a:tabLst>
                <a:tab algn="l" pos="0"/>
              </a:tabLst>
            </a:pPr>
            <a:endParaRPr b="0" lang="en-US" sz="1400" spc="-1" strike="sngStrike">
              <a:solidFill>
                <a:srgbClr val="000000"/>
              </a:solidFill>
              <a:latin typeface="Arial"/>
            </a:endParaRPr>
          </a:p>
        </p:txBody>
      </p:sp>
      <p:sp>
        <p:nvSpPr>
          <p:cNvPr id="143" name="Google Shape;166;p16"/>
          <p:cNvSpPr/>
          <p:nvPr/>
        </p:nvSpPr>
        <p:spPr>
          <a:xfrm>
            <a:off x="914400" y="9321840"/>
            <a:ext cx="9143640" cy="18360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0" lang="en-US" sz="1200" spc="-1" strike="noStrike">
                <a:solidFill>
                  <a:srgbClr val="5c5c5c"/>
                </a:solidFill>
                <a:latin typeface="JetBrains Mono"/>
                <a:ea typeface="JetBrains Mono"/>
              </a:rPr>
              <a:t>© 2026 HackMeridian · Lisbon  ·  #HackMeridian26</a:t>
            </a:r>
            <a:endParaRPr b="0" lang="en-US" sz="1200" spc="-1" strike="sngStrike">
              <a:solidFill>
                <a:srgbClr val="000000"/>
              </a:solidFill>
              <a:latin typeface="Arial"/>
            </a:endParaRPr>
          </a:p>
        </p:txBody>
      </p:sp>
      <p:pic>
        <p:nvPicPr>
          <p:cNvPr id="144" name="Google Shape;167;p16" descr="hm-black.png"/>
          <p:cNvPicPr/>
          <p:nvPr/>
        </p:nvPicPr>
        <p:blipFill>
          <a:blip r:embed="rId1"/>
          <a:stretch/>
        </p:blipFill>
        <p:spPr>
          <a:xfrm>
            <a:off x="14859000" y="9171360"/>
            <a:ext cx="2517480" cy="4384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145" name="Google Shape;172;p17"/>
          <p:cNvSpPr/>
          <p:nvPr/>
        </p:nvSpPr>
        <p:spPr>
          <a:xfrm>
            <a:off x="0" y="0"/>
            <a:ext cx="18287640" cy="731160"/>
          </a:xfrm>
          <a:prstGeom prst="rect">
            <a:avLst/>
          </a:prstGeom>
          <a:solidFill>
            <a:srgbClr val="0f0f0f"/>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46" name="Google Shape;173;p17"/>
          <p:cNvSpPr/>
          <p:nvPr/>
        </p:nvSpPr>
        <p:spPr>
          <a:xfrm>
            <a:off x="914400" y="258480"/>
            <a:ext cx="4571640" cy="21420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1400" spc="-1" strike="noStrike">
                <a:solidFill>
                  <a:srgbClr val="fdda24"/>
                </a:solidFill>
                <a:latin typeface="JetBrains Mono"/>
                <a:ea typeface="JetBrains Mono"/>
              </a:rPr>
              <a:t>PLATFORM 05 / 05</a:t>
            </a:r>
            <a:endParaRPr b="0" lang="en-US" sz="1400" spc="-1" strike="sngStrike">
              <a:solidFill>
                <a:srgbClr val="000000"/>
              </a:solidFill>
              <a:latin typeface="Arial"/>
            </a:endParaRPr>
          </a:p>
        </p:txBody>
      </p:sp>
      <p:sp>
        <p:nvSpPr>
          <p:cNvPr id="147" name="Google Shape;174;p17"/>
          <p:cNvSpPr/>
          <p:nvPr/>
        </p:nvSpPr>
        <p:spPr>
          <a:xfrm>
            <a:off x="5486400" y="258480"/>
            <a:ext cx="7314840" cy="21420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Lst>
            </a:pPr>
            <a:r>
              <a:rPr b="1" lang="en-US" sz="1400" spc="-1" strike="noStrike">
                <a:solidFill>
                  <a:srgbClr val="ffffff"/>
                </a:solidFill>
                <a:latin typeface="JetBrains Mono"/>
                <a:ea typeface="JetBrains Mono"/>
              </a:rPr>
              <a:t>HACKMERIDIAN 2026 · LISBON</a:t>
            </a:r>
            <a:endParaRPr b="0" lang="en-US" sz="1400" spc="-1" strike="sngStrike">
              <a:solidFill>
                <a:srgbClr val="000000"/>
              </a:solidFill>
              <a:latin typeface="Arial"/>
            </a:endParaRPr>
          </a:p>
        </p:txBody>
      </p:sp>
      <p:sp>
        <p:nvSpPr>
          <p:cNvPr id="148" name="Google Shape;175;p17"/>
          <p:cNvSpPr/>
          <p:nvPr/>
        </p:nvSpPr>
        <p:spPr>
          <a:xfrm>
            <a:off x="12801600" y="258480"/>
            <a:ext cx="4571640" cy="214200"/>
          </a:xfrm>
          <a:prstGeom prst="rect">
            <a:avLst/>
          </a:prstGeom>
          <a:noFill/>
          <a:ln w="0">
            <a:noFill/>
          </a:ln>
        </p:spPr>
        <p:style>
          <a:lnRef idx="0"/>
          <a:fillRef idx="0"/>
          <a:effectRef idx="0"/>
          <a:fontRef idx="minor"/>
        </p:style>
        <p:txBody>
          <a:bodyPr lIns="0" rIns="0" tIns="0" bIns="0" anchor="ctr">
            <a:spAutoFit/>
          </a:bodyPr>
          <a:p>
            <a:pPr algn="r">
              <a:lnSpc>
                <a:spcPct val="100000"/>
              </a:lnSpc>
              <a:tabLst>
                <a:tab algn="l" pos="0"/>
              </a:tabLst>
            </a:pPr>
            <a:r>
              <a:rPr b="1" lang="en-US" sz="1400" spc="-1" strike="noStrike">
                <a:solidFill>
                  <a:srgbClr val="ffffff"/>
                </a:solidFill>
                <a:latin typeface="JetBrains Mono"/>
                <a:ea typeface="JetBrains Mono"/>
              </a:rPr>
              <a:t>FINAL STOP</a:t>
            </a:r>
            <a:endParaRPr b="0" lang="en-US" sz="1400" spc="-1" strike="sngStrike">
              <a:solidFill>
                <a:srgbClr val="000000"/>
              </a:solidFill>
              <a:latin typeface="Arial"/>
            </a:endParaRPr>
          </a:p>
        </p:txBody>
      </p:sp>
      <p:sp>
        <p:nvSpPr>
          <p:cNvPr id="149" name="Google Shape;176;p17"/>
          <p:cNvSpPr/>
          <p:nvPr/>
        </p:nvSpPr>
        <p:spPr>
          <a:xfrm>
            <a:off x="914400" y="1417320"/>
            <a:ext cx="2651400" cy="475200"/>
          </a:xfrm>
          <a:prstGeom prst="roundRect">
            <a:avLst>
              <a:gd name="adj" fmla="val 50000"/>
            </a:avLst>
          </a:prstGeom>
          <a:solidFill>
            <a:srgbClr val="fdda24"/>
          </a:solid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200" spc="-1" strike="noStrike">
                <a:solidFill>
                  <a:srgbClr val="0f0f0f"/>
                </a:solidFill>
                <a:latin typeface="JetBrains Mono"/>
                <a:ea typeface="JetBrains Mono"/>
              </a:rPr>
              <a:t>PITCH STEP 04 / 04</a:t>
            </a:r>
            <a:endParaRPr b="0" lang="en-US" sz="1200" spc="-1" strike="sngStrike">
              <a:solidFill>
                <a:srgbClr val="000000"/>
              </a:solidFill>
              <a:latin typeface="Arial"/>
            </a:endParaRPr>
          </a:p>
        </p:txBody>
      </p:sp>
      <p:sp>
        <p:nvSpPr>
          <p:cNvPr id="150" name="Google Shape;177;p17"/>
          <p:cNvSpPr/>
          <p:nvPr/>
        </p:nvSpPr>
        <p:spPr>
          <a:xfrm>
            <a:off x="914400" y="2103120"/>
            <a:ext cx="6858000" cy="15238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10000" spc="-1" strike="noStrike">
                <a:solidFill>
                  <a:srgbClr val="0f0f0f"/>
                </a:solidFill>
                <a:latin typeface="Inter Tight"/>
                <a:ea typeface="Inter Tight"/>
              </a:rPr>
              <a:t>NO TEAM</a:t>
            </a:r>
            <a:endParaRPr b="0" lang="en-US" sz="10000" spc="-1" strike="sngStrike">
              <a:solidFill>
                <a:srgbClr val="000000"/>
              </a:solidFill>
              <a:latin typeface="Arial"/>
            </a:endParaRPr>
          </a:p>
        </p:txBody>
      </p:sp>
      <p:sp>
        <p:nvSpPr>
          <p:cNvPr id="151" name="Google Shape;178;p17"/>
          <p:cNvSpPr/>
          <p:nvPr/>
        </p:nvSpPr>
        <p:spPr>
          <a:xfrm>
            <a:off x="914400" y="3931920"/>
            <a:ext cx="1097244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Lst>
            </a:pPr>
            <a:r>
              <a:rPr b="1" lang="en-US" sz="2800" spc="-1" strike="noStrike">
                <a:solidFill>
                  <a:srgbClr val="0f0f0f"/>
                </a:solidFill>
                <a:latin typeface="Instrument Sans"/>
                <a:ea typeface="Instrument Sans"/>
              </a:rPr>
              <a:t>Just me</a:t>
            </a:r>
            <a:endParaRPr b="0" lang="en-US" sz="2800" spc="-1" strike="sngStrike">
              <a:solidFill>
                <a:srgbClr val="000000"/>
              </a:solidFill>
              <a:latin typeface="Arial"/>
            </a:endParaRPr>
          </a:p>
        </p:txBody>
      </p:sp>
      <p:sp>
        <p:nvSpPr>
          <p:cNvPr id="152" name="Google Shape;179;p17"/>
          <p:cNvSpPr/>
          <p:nvPr/>
        </p:nvSpPr>
        <p:spPr>
          <a:xfrm>
            <a:off x="914400" y="4709160"/>
            <a:ext cx="11612520" cy="1716840"/>
          </a:xfrm>
          <a:prstGeom prst="rect">
            <a:avLst/>
          </a:prstGeom>
          <a:noFill/>
          <a:ln w="0">
            <a:noFill/>
          </a:ln>
        </p:spPr>
        <p:style>
          <a:lnRef idx="0"/>
          <a:fillRef idx="0"/>
          <a:effectRef idx="0"/>
          <a:fontRef idx="minor"/>
        </p:style>
        <p:txBody>
          <a:bodyPr lIns="0" rIns="0" tIns="0" bIns="0" anchor="t">
            <a:spAutoFit/>
          </a:bodyPr>
          <a:p>
            <a:pPr marL="411480" indent="-411480">
              <a:lnSpc>
                <a:spcPct val="100000"/>
              </a:lnSpc>
              <a:buClr>
                <a:srgbClr val="0f0f0f"/>
              </a:buClr>
              <a:buFont typeface="Arial"/>
              <a:buChar char="►"/>
            </a:pPr>
            <a:r>
              <a:rPr b="0" lang="en-US" sz="2400" spc="-1" strike="noStrike">
                <a:solidFill>
                  <a:srgbClr val="2a2a2a"/>
                </a:solidFill>
                <a:latin typeface="Instrument Sans"/>
                <a:ea typeface="Instrument Sans"/>
              </a:rPr>
              <a:t>Robert a.k.a Row-Bear</a:t>
            </a:r>
            <a:endParaRPr b="0" lang="en-US" sz="2400" spc="-1" strike="sngStrike">
              <a:solidFill>
                <a:srgbClr val="000000"/>
              </a:solidFill>
              <a:latin typeface="Arial"/>
            </a:endParaRPr>
          </a:p>
          <a:p>
            <a:pPr marL="411480" indent="-411480">
              <a:lnSpc>
                <a:spcPct val="100000"/>
              </a:lnSpc>
              <a:spcBef>
                <a:spcPts val="1001"/>
              </a:spcBef>
              <a:buClr>
                <a:srgbClr val="0f0f0f"/>
              </a:buClr>
              <a:buFont typeface="Arial"/>
              <a:buChar char="►"/>
            </a:pPr>
            <a:r>
              <a:rPr b="0" lang="en-US" sz="2400" spc="-1" strike="noStrike">
                <a:solidFill>
                  <a:srgbClr val="2a2a2a"/>
                </a:solidFill>
                <a:latin typeface="Instrument Sans"/>
                <a:ea typeface="Instrument Sans"/>
              </a:rPr>
              <a:t>Stellar Quester, RPCieger, tinkerer, community member</a:t>
            </a:r>
            <a:endParaRPr b="0" lang="en-US" sz="2400" spc="-1" strike="sngStrike">
              <a:solidFill>
                <a:srgbClr val="000000"/>
              </a:solidFill>
              <a:latin typeface="Arial"/>
            </a:endParaRPr>
          </a:p>
          <a:p>
            <a:pPr marL="411480" indent="-411480">
              <a:lnSpc>
                <a:spcPct val="100000"/>
              </a:lnSpc>
              <a:spcBef>
                <a:spcPts val="1001"/>
              </a:spcBef>
              <a:buClr>
                <a:srgbClr val="0f0f0f"/>
              </a:buClr>
              <a:buFont typeface="Arial"/>
              <a:buChar char="►"/>
            </a:pPr>
            <a:r>
              <a:rPr b="0" lang="en-US" sz="2400" spc="-1" strike="noStrike">
                <a:solidFill>
                  <a:srgbClr val="2a2a2a"/>
                </a:solidFill>
                <a:latin typeface="Instrument Sans"/>
                <a:ea typeface="Instrument Sans"/>
              </a:rPr>
              <a:t>No formal education or experience in development, but over the years I’ve picked up enough to make and break some things</a:t>
            </a:r>
            <a:endParaRPr b="0" lang="en-US" sz="2400" spc="-1" strike="sngStrike">
              <a:solidFill>
                <a:srgbClr val="000000"/>
              </a:solidFill>
              <a:latin typeface="Arial"/>
            </a:endParaRPr>
          </a:p>
        </p:txBody>
      </p:sp>
      <p:sp>
        <p:nvSpPr>
          <p:cNvPr id="153" name="Google Shape;180;p17"/>
          <p:cNvSpPr/>
          <p:nvPr/>
        </p:nvSpPr>
        <p:spPr>
          <a:xfrm>
            <a:off x="914400" y="7086600"/>
            <a:ext cx="10789560" cy="1051200"/>
          </a:xfrm>
          <a:prstGeom prst="roundRect">
            <a:avLst>
              <a:gd name="adj" fmla="val 22000"/>
            </a:avLst>
          </a:prstGeom>
          <a:solidFill>
            <a:srgbClr val="ffffff"/>
          </a:solidFill>
          <a:ln w="38100">
            <a:solidFill>
              <a:srgbClr val="fdda24"/>
            </a:solidFill>
            <a:round/>
          </a:ln>
        </p:spPr>
        <p:style>
          <a:lnRef idx="0"/>
          <a:fillRef idx="0"/>
          <a:effectRef idx="0"/>
          <a:fontRef idx="minor"/>
        </p:style>
        <p:txBody>
          <a:bodyPr lIns="365760" rIns="365760" tIns="0" bIns="0" anchor="ctr">
            <a:noAutofit/>
          </a:bodyPr>
          <a:p>
            <a:pPr>
              <a:lnSpc>
                <a:spcPct val="100000"/>
              </a:lnSpc>
              <a:tabLst>
                <a:tab algn="l" pos="0"/>
              </a:tabLst>
            </a:pPr>
            <a:r>
              <a:rPr b="1" lang="en-US" sz="2400" spc="-1" strike="noStrike">
                <a:solidFill>
                  <a:srgbClr val="0f0f0f"/>
                </a:solidFill>
                <a:latin typeface="Instrument Sans"/>
                <a:ea typeface="Instrument Sans"/>
              </a:rPr>
              <a:t>👉</a:t>
            </a:r>
            <a:r>
              <a:rPr b="0" lang="en-US" sz="2400" spc="-1" strike="noStrike">
                <a:solidFill>
                  <a:srgbClr val="0f0f0f"/>
                </a:solidFill>
                <a:latin typeface="Instrument Sans"/>
                <a:ea typeface="Instrument Sans"/>
              </a:rPr>
              <a:t> </a:t>
            </a:r>
            <a:r>
              <a:rPr b="0" lang="en-US" sz="2400" spc="-1" strike="noStrike">
                <a:solidFill>
                  <a:srgbClr val="0f0f0f"/>
                </a:solidFill>
                <a:latin typeface="Instrument Sans"/>
                <a:ea typeface="Instrument Sans"/>
              </a:rPr>
              <a:t>This was great fun</a:t>
            </a:r>
            <a:endParaRPr b="0" lang="en-US" sz="2400" spc="-1" strike="sngStrike">
              <a:solidFill>
                <a:srgbClr val="000000"/>
              </a:solidFill>
              <a:latin typeface="Arial"/>
            </a:endParaRPr>
          </a:p>
        </p:txBody>
      </p:sp>
      <p:sp>
        <p:nvSpPr>
          <p:cNvPr id="154" name="Google Shape;181;p17"/>
          <p:cNvSpPr/>
          <p:nvPr/>
        </p:nvSpPr>
        <p:spPr>
          <a:xfrm>
            <a:off x="12893040" y="4023360"/>
            <a:ext cx="4480200" cy="2597400"/>
          </a:xfrm>
          <a:custGeom>
            <a:avLst/>
            <a:gdLst>
              <a:gd name="textAreaLeft" fmla="*/ 0 w 4480200"/>
              <a:gd name="textAreaRight" fmla="*/ 4480560 w 4480200"/>
              <a:gd name="textAreaTop" fmla="*/ 0 h 2597400"/>
              <a:gd name="textAreaBottom" fmla="*/ 2597760 h 2597400"/>
            </a:gdLst>
            <a:ahLst/>
            <a:rect l="textAreaLeft" t="textAreaTop" r="textAreaRight" b="textAreaBottom"/>
            <a:pathLst>
              <a:path w="4480560" h="2597771">
                <a:moveTo>
                  <a:pt x="0" y="0"/>
                </a:moveTo>
                <a:lnTo>
                  <a:pt x="0" y="1000976"/>
                </a:lnTo>
                <a:lnTo>
                  <a:pt x="2240280" y="2597771"/>
                </a:lnTo>
                <a:lnTo>
                  <a:pt x="4480560" y="1000976"/>
                </a:lnTo>
                <a:lnTo>
                  <a:pt x="4480560" y="0"/>
                </a:lnTo>
                <a:lnTo>
                  <a:pt x="2240280" y="1358467"/>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55" name="Google Shape;182;p17"/>
          <p:cNvSpPr/>
          <p:nvPr/>
        </p:nvSpPr>
        <p:spPr>
          <a:xfrm>
            <a:off x="12893040" y="5882400"/>
            <a:ext cx="1310400" cy="1620360"/>
          </a:xfrm>
          <a:custGeom>
            <a:avLst/>
            <a:gdLst>
              <a:gd name="textAreaLeft" fmla="*/ 0 w 1310400"/>
              <a:gd name="textAreaRight" fmla="*/ 1310760 w 1310400"/>
              <a:gd name="textAreaTop" fmla="*/ 0 h 1620360"/>
              <a:gd name="textAreaBottom" fmla="*/ 1620720 h 1620360"/>
            </a:gdLst>
            <a:ahLst/>
            <a:rect l="textAreaLeft" t="textAreaTop" r="textAreaRight" b="textAreaBottom"/>
            <a:pathLst>
              <a:path w="1310802" h="1620628">
                <a:moveTo>
                  <a:pt x="0" y="0"/>
                </a:moveTo>
                <a:lnTo>
                  <a:pt x="0" y="1620628"/>
                </a:lnTo>
                <a:lnTo>
                  <a:pt x="1310802" y="786482"/>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56" name="Google Shape;183;p17"/>
          <p:cNvSpPr/>
          <p:nvPr/>
        </p:nvSpPr>
        <p:spPr>
          <a:xfrm>
            <a:off x="16062840" y="5882400"/>
            <a:ext cx="1310400" cy="1620360"/>
          </a:xfrm>
          <a:custGeom>
            <a:avLst/>
            <a:gdLst>
              <a:gd name="textAreaLeft" fmla="*/ 0 w 1310400"/>
              <a:gd name="textAreaRight" fmla="*/ 1310760 w 1310400"/>
              <a:gd name="textAreaTop" fmla="*/ 0 h 1620360"/>
              <a:gd name="textAreaBottom" fmla="*/ 1620720 h 1620360"/>
            </a:gdLst>
            <a:ahLst/>
            <a:rect l="textAreaLeft" t="textAreaTop" r="textAreaRight" b="textAreaBottom"/>
            <a:pathLst>
              <a:path w="1310803" h="1620628">
                <a:moveTo>
                  <a:pt x="1310803" y="0"/>
                </a:moveTo>
                <a:lnTo>
                  <a:pt x="1310803" y="1620628"/>
                </a:lnTo>
                <a:lnTo>
                  <a:pt x="0" y="786482"/>
                </a:lnTo>
                <a:close/>
              </a:path>
            </a:pathLst>
          </a:custGeom>
          <a:solidFill>
            <a:srgbClr val="0f0f0f">
              <a:alpha val="7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ffffff"/>
              </a:solidFill>
              <a:latin typeface="Arial"/>
            </a:endParaRPr>
          </a:p>
        </p:txBody>
      </p:sp>
      <p:sp>
        <p:nvSpPr>
          <p:cNvPr id="157" name="Google Shape;184;p17"/>
          <p:cNvSpPr/>
          <p:nvPr/>
        </p:nvSpPr>
        <p:spPr>
          <a:xfrm rot="5400000">
            <a:off x="15133680" y="7498080"/>
            <a:ext cx="502560" cy="502560"/>
          </a:xfrm>
          <a:prstGeom prst="triangle">
            <a:avLst>
              <a:gd name="adj" fmla="val 50000"/>
            </a:avLst>
          </a:prstGeom>
          <a:solidFill>
            <a:srgbClr val="fdda24"/>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158" name="Google Shape;185;p17"/>
          <p:cNvSpPr/>
          <p:nvPr/>
        </p:nvSpPr>
        <p:spPr>
          <a:xfrm rot="5400000">
            <a:off x="15611400" y="7498080"/>
            <a:ext cx="502560" cy="502560"/>
          </a:xfrm>
          <a:prstGeom prst="triangle">
            <a:avLst>
              <a:gd name="adj" fmla="val 50000"/>
            </a:avLst>
          </a:prstGeom>
          <a:solidFill>
            <a:srgbClr val="fdda24">
              <a:alpha val="60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159" name="Google Shape;186;p17"/>
          <p:cNvSpPr/>
          <p:nvPr/>
        </p:nvSpPr>
        <p:spPr>
          <a:xfrm rot="5400000">
            <a:off x="16089120" y="7498080"/>
            <a:ext cx="502560" cy="502560"/>
          </a:xfrm>
          <a:prstGeom prst="triangle">
            <a:avLst>
              <a:gd name="adj" fmla="val 50000"/>
            </a:avLst>
          </a:prstGeom>
          <a:solidFill>
            <a:srgbClr val="fdda24">
              <a:alpha val="30000"/>
            </a:srgbClr>
          </a:solidFill>
          <a:ln w="0">
            <a:noFill/>
          </a:ln>
        </p:spPr>
        <p:style>
          <a:lnRef idx="0"/>
          <a:fillRef idx="0"/>
          <a:effectRef idx="0"/>
          <a:fontRef idx="minor"/>
        </p:style>
        <p:txBody>
          <a:bodyPr anchor="ctr">
            <a:noAutofit/>
          </a:bodyPr>
          <a:p>
            <a:pPr algn="ctr">
              <a:lnSpc>
                <a:spcPct val="100000"/>
              </a:lnSpc>
              <a:tabLst>
                <a:tab algn="l" pos="0"/>
              </a:tabLst>
            </a:pPr>
            <a:endParaRPr b="0" lang="en-US" sz="1400" spc="-1" strike="sngStrike">
              <a:solidFill>
                <a:srgbClr val="000000"/>
              </a:solidFill>
              <a:latin typeface="Arial"/>
            </a:endParaRPr>
          </a:p>
        </p:txBody>
      </p:sp>
      <p:sp>
        <p:nvSpPr>
          <p:cNvPr id="160" name="Google Shape;187;p17"/>
          <p:cNvSpPr/>
          <p:nvPr/>
        </p:nvSpPr>
        <p:spPr>
          <a:xfrm>
            <a:off x="914400" y="8915400"/>
            <a:ext cx="16458840" cy="13320"/>
          </a:xfrm>
          <a:prstGeom prst="rect">
            <a:avLst/>
          </a:prstGeom>
          <a:solidFill>
            <a:srgbClr val="dfddd6"/>
          </a:solidFill>
          <a:ln w="0">
            <a:noFill/>
          </a:ln>
        </p:spPr>
        <p:style>
          <a:lnRef idx="0"/>
          <a:fillRef idx="0"/>
          <a:effectRef idx="0"/>
          <a:fontRef idx="minor"/>
        </p:style>
        <p:txBody>
          <a:bodyPr tIns="6840" bIns="6840" anchor="ctr">
            <a:noAutofit/>
          </a:bodyPr>
          <a:p>
            <a:pPr algn="ctr">
              <a:lnSpc>
                <a:spcPct val="100000"/>
              </a:lnSpc>
              <a:tabLst>
                <a:tab algn="l" pos="0"/>
              </a:tabLst>
            </a:pPr>
            <a:endParaRPr b="0" lang="en-US" sz="1400" spc="-1" strike="sngStrike">
              <a:solidFill>
                <a:srgbClr val="000000"/>
              </a:solidFill>
              <a:latin typeface="Arial"/>
            </a:endParaRPr>
          </a:p>
        </p:txBody>
      </p:sp>
      <p:sp>
        <p:nvSpPr>
          <p:cNvPr id="161" name="Google Shape;188;p17"/>
          <p:cNvSpPr/>
          <p:nvPr/>
        </p:nvSpPr>
        <p:spPr>
          <a:xfrm>
            <a:off x="914400" y="9321840"/>
            <a:ext cx="9143640" cy="18360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0" lang="en-US" sz="1200" spc="-1" strike="noStrike">
                <a:solidFill>
                  <a:srgbClr val="5c5c5c"/>
                </a:solidFill>
                <a:latin typeface="JetBrains Mono"/>
                <a:ea typeface="JetBrains Mono"/>
              </a:rPr>
              <a:t>© 2026 HackMeridian · Lisbon  ·  #HackMeridian26</a:t>
            </a:r>
            <a:endParaRPr b="0" lang="en-US" sz="1200" spc="-1" strike="sngStrike">
              <a:solidFill>
                <a:srgbClr val="000000"/>
              </a:solidFill>
              <a:latin typeface="Arial"/>
            </a:endParaRPr>
          </a:p>
        </p:txBody>
      </p:sp>
      <p:pic>
        <p:nvPicPr>
          <p:cNvPr id="162" name="Google Shape;189;p17" descr="hm-black.png"/>
          <p:cNvPicPr/>
          <p:nvPr/>
        </p:nvPicPr>
        <p:blipFill>
          <a:blip r:embed="rId1"/>
          <a:stretch/>
        </p:blipFill>
        <p:spPr>
          <a:xfrm>
            <a:off x="14859000" y="9171360"/>
            <a:ext cx="2517480" cy="438480"/>
          </a:xfrm>
          <a:prstGeom prst="rect">
            <a:avLst/>
          </a:prstGeom>
          <a:ln w="0">
            <a:noFill/>
          </a:ln>
        </p:spPr>
      </p:pic>
      <p:pic>
        <p:nvPicPr>
          <p:cNvPr id="163" name="" descr=""/>
          <p:cNvPicPr/>
          <p:nvPr/>
        </p:nvPicPr>
        <p:blipFill>
          <a:blip r:embed="rId2"/>
          <a:stretch/>
        </p:blipFill>
        <p:spPr>
          <a:xfrm>
            <a:off x="12475440" y="1143000"/>
            <a:ext cx="2154960" cy="3232440"/>
          </a:xfrm>
          <a:prstGeom prst="rect">
            <a:avLst/>
          </a:prstGeom>
          <a:ln w="0">
            <a:noFill/>
          </a:ln>
        </p:spPr>
      </p:pic>
      <p:sp>
        <p:nvSpPr>
          <p:cNvPr id="164" name="Google Shape;179;p 1"/>
          <p:cNvSpPr/>
          <p:nvPr/>
        </p:nvSpPr>
        <p:spPr>
          <a:xfrm>
            <a:off x="9829800" y="3627000"/>
            <a:ext cx="1600200" cy="366120"/>
          </a:xfrm>
          <a:prstGeom prst="rect">
            <a:avLst/>
          </a:prstGeom>
          <a:noFill/>
          <a:ln w="0">
            <a:noFill/>
          </a:ln>
        </p:spPr>
        <p:style>
          <a:lnRef idx="0"/>
          <a:fillRef idx="0"/>
          <a:effectRef idx="0"/>
          <a:fontRef idx="minor"/>
        </p:style>
        <p:txBody>
          <a:bodyPr lIns="0" rIns="0" tIns="0" bIns="0" anchor="t">
            <a:spAutoFit/>
          </a:bodyPr>
          <a:p>
            <a:pPr marL="411480" indent="-411480">
              <a:lnSpc>
                <a:spcPct val="100000"/>
              </a:lnSpc>
              <a:buClr>
                <a:srgbClr val="0f0f0f"/>
              </a:buClr>
              <a:buFont typeface="Arial"/>
              <a:buChar char="►"/>
            </a:pPr>
            <a:r>
              <a:rPr b="0" lang="en-US" sz="2400" spc="-1" strike="noStrike">
                <a:solidFill>
                  <a:srgbClr val="2a2a2a"/>
                </a:solidFill>
                <a:latin typeface="Instrument Sans"/>
                <a:ea typeface="Instrument Sans"/>
              </a:rPr>
              <a:t>Robert</a:t>
            </a:r>
            <a:endParaRPr b="0" lang="en-US" sz="2400" spc="-1" strike="sngStrike">
              <a:solidFill>
                <a:srgbClr val="000000"/>
              </a:solidFill>
              <a:latin typeface="Arial"/>
            </a:endParaRPr>
          </a:p>
        </p:txBody>
      </p:sp>
      <p:sp>
        <p:nvSpPr>
          <p:cNvPr id="165" name="Google Shape;179;p 2"/>
          <p:cNvSpPr/>
          <p:nvPr/>
        </p:nvSpPr>
        <p:spPr>
          <a:xfrm>
            <a:off x="14401800" y="1691280"/>
            <a:ext cx="3429000" cy="1096920"/>
          </a:xfrm>
          <a:prstGeom prst="rect">
            <a:avLst/>
          </a:prstGeom>
          <a:noFill/>
          <a:ln w="0">
            <a:noFill/>
          </a:ln>
        </p:spPr>
        <p:style>
          <a:lnRef idx="0"/>
          <a:fillRef idx="0"/>
          <a:effectRef idx="0"/>
          <a:fontRef idx="minor"/>
        </p:style>
        <p:txBody>
          <a:bodyPr lIns="0" rIns="0" tIns="0" bIns="0" anchor="t">
            <a:spAutoFit/>
          </a:bodyPr>
          <a:p>
            <a:pPr marL="411480" indent="-411480">
              <a:lnSpc>
                <a:spcPct val="100000"/>
              </a:lnSpc>
              <a:buClr>
                <a:srgbClr val="0f0f0f"/>
              </a:buClr>
              <a:buFont typeface="Arial"/>
              <a:buChar char="►"/>
            </a:pPr>
            <a:r>
              <a:rPr b="0" lang="en-US" sz="2400" spc="-1" strike="noStrike">
                <a:solidFill>
                  <a:srgbClr val="2a2a2a"/>
                </a:solidFill>
                <a:latin typeface="Instrument Sans"/>
                <a:ea typeface="Instrument Sans"/>
              </a:rPr>
              <a:t>Also Robert, the picture you usually see.</a:t>
            </a:r>
            <a:endParaRPr b="0" lang="en-US" sz="2400" spc="-1" strike="sngStrike">
              <a:solidFill>
                <a:srgbClr val="000000"/>
              </a:solidFill>
              <a:latin typeface="Arial"/>
            </a:endParaRPr>
          </a:p>
        </p:txBody>
      </p:sp>
      <p:pic>
        <p:nvPicPr>
          <p:cNvPr id="166" name="" descr=""/>
          <p:cNvPicPr/>
          <p:nvPr/>
        </p:nvPicPr>
        <p:blipFill>
          <a:blip r:embed="rId3"/>
          <a:stretch/>
        </p:blipFill>
        <p:spPr>
          <a:xfrm>
            <a:off x="12421080" y="4709160"/>
            <a:ext cx="1911600" cy="1911600"/>
          </a:xfrm>
          <a:prstGeom prst="rect">
            <a:avLst/>
          </a:prstGeom>
          <a:ln w="0">
            <a:noFill/>
          </a:ln>
        </p:spPr>
      </p:pic>
      <p:sp>
        <p:nvSpPr>
          <p:cNvPr id="167" name="Google Shape;179;p 3"/>
          <p:cNvSpPr/>
          <p:nvPr/>
        </p:nvSpPr>
        <p:spPr>
          <a:xfrm>
            <a:off x="11887200" y="6629400"/>
            <a:ext cx="3337560" cy="549000"/>
          </a:xfrm>
          <a:prstGeom prst="rect">
            <a:avLst/>
          </a:prstGeom>
          <a:noFill/>
          <a:ln w="0">
            <a:noFill/>
          </a:ln>
        </p:spPr>
        <p:style>
          <a:lnRef idx="0"/>
          <a:fillRef idx="0"/>
          <a:effectRef idx="0"/>
          <a:fontRef idx="minor"/>
        </p:style>
        <p:txBody>
          <a:bodyPr lIns="0" rIns="0" tIns="0" bIns="0" anchor="t">
            <a:spAutoFit/>
          </a:bodyPr>
          <a:p>
            <a:pPr marL="411480" indent="-411480">
              <a:lnSpc>
                <a:spcPct val="100000"/>
              </a:lnSpc>
              <a:buClr>
                <a:srgbClr val="0f0f0f"/>
              </a:buClr>
              <a:buFont typeface="Arial"/>
              <a:buChar char="►"/>
            </a:pPr>
            <a:r>
              <a:rPr b="0" lang="en-US" sz="1800" spc="-1" strike="noStrike">
                <a:solidFill>
                  <a:srgbClr val="2a2a2a"/>
                </a:solidFill>
                <a:latin typeface="Instrument Sans"/>
                <a:ea typeface="Instrument Sans"/>
              </a:rPr>
              <a:t>Github Copilot did most of the legwork really</a:t>
            </a:r>
            <a:endParaRPr b="0" lang="en-US" sz="1800" spc="-1" strike="sngStrike">
              <a:solidFill>
                <a:srgbClr val="000000"/>
              </a:solidFill>
              <a:latin typeface="Arial"/>
            </a:endParaRPr>
          </a:p>
        </p:txBody>
      </p:sp>
      <p:pic>
        <p:nvPicPr>
          <p:cNvPr id="168" name="" descr=""/>
          <p:cNvPicPr/>
          <p:nvPr/>
        </p:nvPicPr>
        <p:blipFill>
          <a:blip r:embed="rId4"/>
          <a:srcRect l="39281" t="30103" r="29467" b="5449"/>
          <a:stretch/>
        </p:blipFill>
        <p:spPr>
          <a:xfrm>
            <a:off x="9601200" y="1280160"/>
            <a:ext cx="2049480" cy="237744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81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2026-10-26T10:58:51Z</dcterms:modified>
  <cp:revision>5</cp:revision>
  <dc:subject/>
  <dc:title/>
</cp:coreProperties>
</file>